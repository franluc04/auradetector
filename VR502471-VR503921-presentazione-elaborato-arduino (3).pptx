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layfair Displ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regular.fntdata"/><Relationship Id="rId25" Type="http://schemas.openxmlformats.org/officeDocument/2006/relationships/slide" Target="slides/slide20.xml"/><Relationship Id="rId28" Type="http://schemas.openxmlformats.org/officeDocument/2006/relationships/font" Target="fonts/PlayfairDisplay-italic.fntdata"/><Relationship Id="rId27" Type="http://schemas.openxmlformats.org/officeDocument/2006/relationships/font" Target="fonts/PlayfairDis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63007673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63007673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630076734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630076734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630076734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630076734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630076734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630076734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630076734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630076734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63007673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63007673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63948fd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63948fd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63948fd3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63948fd3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7434625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7434625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7434625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7434625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74346256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74346256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74346256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74346256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74346256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74346256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74346256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74346256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74346256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74346256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63007673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63007673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63948fd3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63948fd3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63948fd3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63948fd3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63948fd3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63948fd3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Relationship Id="rId4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50325" y="1627200"/>
            <a:ext cx="30435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AuraDetector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Elaborato per il corso di prototipizzazione con Arduino A.A. 2025/2026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096375" y="1018200"/>
            <a:ext cx="17841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Marco Melegatti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VR502471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263675" y="1018200"/>
            <a:ext cx="17841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Luca Belloni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VR503921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Introduzione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4503000" cy="3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progetto AuraDetector consiste in un sistema dedicato al rilevamento e alla discriminazione di oggetti metallici.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Inoltre è in grado di svolgere una distinzione istantanea tra metalli con proprietà ferromagnetiche (indicati come ferrosi) e con metalli con proprietà paramagnetiche o diamagnetiche (indicati come non ferrosi)</a:t>
            </a:r>
            <a:endParaRPr/>
          </a:p>
        </p:txBody>
      </p:sp>
      <p:pic>
        <p:nvPicPr>
          <p:cNvPr id="69" name="Google Shape;69;p14" title="IMG_6112.JPG"/>
          <p:cNvPicPr preferRelativeResize="0"/>
          <p:nvPr/>
        </p:nvPicPr>
        <p:blipFill rotWithShape="1">
          <a:blip r:embed="rId3">
            <a:alphaModFix/>
          </a:blip>
          <a:srcRect b="11958" l="11589" r="10782" t="15870"/>
          <a:stretch/>
        </p:blipFill>
        <p:spPr>
          <a:xfrm>
            <a:off x="5304200" y="1017450"/>
            <a:ext cx="3053424" cy="1892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IMG_611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1650" y="2932700"/>
            <a:ext cx="3053429" cy="203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Moduli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Principali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017450"/>
            <a:ext cx="4260300" cy="39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u="sng"/>
              <a:t>Modulo di acquisizione dati:</a:t>
            </a:r>
            <a:endParaRPr b="1" u="sng"/>
          </a:p>
          <a:p>
            <a:pPr indent="-334309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65"/>
              <a:buChar char="-"/>
            </a:pPr>
            <a:r>
              <a:rPr b="1" lang="it" sz="1664"/>
              <a:t>Sensore induttivo LJ12A3-4-Z/BX</a:t>
            </a:r>
            <a:r>
              <a:rPr lang="it" sz="1664"/>
              <a:t>: basato sulla logica NPN (Normally Open), viene utilizzato per il rilevamento di materiali metallici, ad una distanza di circa </a:t>
            </a:r>
            <a:r>
              <a:rPr lang="it" sz="1664"/>
              <a:t>4 mm</a:t>
            </a:r>
            <a:r>
              <a:rPr lang="it" sz="1664"/>
              <a:t>.</a:t>
            </a:r>
            <a:endParaRPr sz="1664"/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64"/>
          </a:p>
          <a:p>
            <a:pPr indent="-33430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65"/>
              <a:buChar char="-"/>
            </a:pPr>
            <a:r>
              <a:rPr b="1" lang="it" sz="1664"/>
              <a:t>Magnetometro GY-273: </a:t>
            </a:r>
            <a:r>
              <a:rPr lang="it" sz="1664"/>
              <a:t>grazie al chip QML5883L, è</a:t>
            </a:r>
            <a:r>
              <a:rPr b="1" lang="it" sz="1664"/>
              <a:t> </a:t>
            </a:r>
            <a:r>
              <a:rPr lang="it" sz="1664"/>
              <a:t>in grado di misurare le perturbazioni del campo magnetico locale indotte dal materiale metallico, una volta rilevate dal sensore induttivo.</a:t>
            </a:r>
            <a:endParaRPr sz="1664"/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64"/>
          </a:p>
          <a:p>
            <a:pPr indent="-334309" lvl="0" marL="457200" rtl="0" algn="l">
              <a:spcBef>
                <a:spcPts val="0"/>
              </a:spcBef>
              <a:spcAft>
                <a:spcPts val="0"/>
              </a:spcAft>
              <a:buSzPts val="1665"/>
              <a:buChar char="-"/>
            </a:pPr>
            <a:r>
              <a:rPr b="1" lang="it" sz="1664"/>
              <a:t>Scheda Arduino Uno</a:t>
            </a:r>
            <a:r>
              <a:rPr lang="it" sz="1664"/>
              <a:t>: Per l’elaborazione dei segnali analogici e la calibrazione ambientale del sistema</a:t>
            </a:r>
            <a:endParaRPr sz="1664"/>
          </a:p>
        </p:txBody>
      </p:sp>
      <p:pic>
        <p:nvPicPr>
          <p:cNvPr id="77" name="Google Shape;77;p15" title="arduinouno.jpg"/>
          <p:cNvPicPr preferRelativeResize="0"/>
          <p:nvPr/>
        </p:nvPicPr>
        <p:blipFill rotWithShape="1">
          <a:blip r:embed="rId3">
            <a:alphaModFix/>
          </a:blip>
          <a:srcRect b="7988" l="0" r="0" t="5648"/>
          <a:stretch/>
        </p:blipFill>
        <p:spPr>
          <a:xfrm>
            <a:off x="5982975" y="3477700"/>
            <a:ext cx="1784975" cy="15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title="IMG_6121_2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050" y="1017450"/>
            <a:ext cx="1577450" cy="236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Moduli Principali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017450"/>
            <a:ext cx="4260300" cy="39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u="sng"/>
              <a:t>Modulo di comunicazione dati:</a:t>
            </a:r>
            <a:endParaRPr b="1" u="sng"/>
          </a:p>
          <a:p>
            <a:pPr indent="-322214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74"/>
              <a:buChar char="-"/>
            </a:pPr>
            <a:r>
              <a:rPr b="1" lang="it" sz="1664"/>
              <a:t>Scheda ESP32: </a:t>
            </a:r>
            <a:r>
              <a:rPr lang="it" sz="1664"/>
              <a:t>programmata in Micropython,</a:t>
            </a:r>
            <a:r>
              <a:rPr b="1" lang="it" sz="1664"/>
              <a:t> </a:t>
            </a:r>
            <a:r>
              <a:rPr lang="it" sz="1664"/>
              <a:t>funge da gateway asincrono UART-BLE ricevendo i dati da Arduino, </a:t>
            </a:r>
            <a:r>
              <a:rPr lang="it" sz="1664"/>
              <a:t>trasmettendogli</a:t>
            </a:r>
            <a:r>
              <a:rPr lang="it" sz="1664"/>
              <a:t> poi via Bluetooth al dispositivo (PC) connesso.</a:t>
            </a:r>
            <a:endParaRPr b="1" sz="14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u="sng"/>
              <a:t>Modulo di visualizzazione dati:</a:t>
            </a:r>
            <a:endParaRPr b="1" u="sng"/>
          </a:p>
          <a:p>
            <a:pPr indent="-322214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74"/>
              <a:buChar char="-"/>
            </a:pPr>
            <a:r>
              <a:rPr b="1" lang="it" sz="1664"/>
              <a:t>Applicazione con ambiente Python: </a:t>
            </a:r>
            <a:r>
              <a:rPr lang="it" sz="1664"/>
              <a:t>Per la ricezione tramite Bluetooth e la elaborazione dei dati in tempo reale. Inoltre provvede anche ad una rappresentazione grafica della perturbazione mediante una curva gaussiana.</a:t>
            </a:r>
            <a:endParaRPr sz="1664"/>
          </a:p>
        </p:txBody>
      </p:sp>
      <p:pic>
        <p:nvPicPr>
          <p:cNvPr id="85" name="Google Shape;85;p16" title="Schermata del 2026-01-11 22-45-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3450" y="3041625"/>
            <a:ext cx="3723900" cy="1948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esp3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8950" y="1017450"/>
            <a:ext cx="2024174" cy="202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41900" y="1017450"/>
            <a:ext cx="8260200" cy="12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5800" u="sng"/>
              <a:t>Modulo di alimentazione e sensore induttivo LJ12A3-4-Z/BX</a:t>
            </a:r>
            <a:endParaRPr b="1" sz="5800" u="sng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Alimentato dalla batteria da 9V, svolge la funzione di trigger per l’intero sistema.</a:t>
            </a: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L’uscita del sensore induttivo, in assenza di oggetti metallici, è flottante (</a:t>
            </a:r>
            <a:r>
              <a:rPr lang="it" sz="5053"/>
              <a:t>poiché</a:t>
            </a:r>
            <a:r>
              <a:rPr lang="it" sz="5053"/>
              <a:t> il transistor interno al sensore è </a:t>
            </a: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aperto, secondo la logica NPN).</a:t>
            </a: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Il fotoaccoppiatore PC817 riceve la corrente da 9V dalla linea positiva inferiore, ma il circuito rimane interrotto.</a:t>
            </a:r>
            <a:endParaRPr sz="4788">
              <a:solidFill>
                <a:srgbClr val="00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4"/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Schema e funzionamento del circuito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281740"/>
            <a:ext cx="4391826" cy="227618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41900" y="2049900"/>
            <a:ext cx="3816300" cy="26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Rilevato</a:t>
            </a:r>
            <a:r>
              <a:rPr lang="it" sz="5053"/>
              <a:t> un metallo, il transistor interno al sensore si chiude, rendendo il cavo di output (nero) un cavo di massa.</a:t>
            </a: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La corrente a 9V, scorre verso il Pin 1 (anodo) del fotoaccoppiatore, limitata dal resistore da 1kΩ, in modo da proteggere il componente garantendo la saturazione del fototransistor interno sul lato secondario.</a:t>
            </a: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La corrente in uscita dal Pin 2 (catodo), scorre lungo</a:t>
            </a: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 il cavo di output del sensore induttivo, chiudendo il circuito tramite il cavo di massa (blu) nella linea GND inferiore della breadboard.</a:t>
            </a:r>
            <a:endParaRPr sz="5053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Schema e funzionamento del circuito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7100" y="2456000"/>
            <a:ext cx="4569001" cy="236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41900" y="2237696"/>
            <a:ext cx="3816300" cy="25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In assenza di metalli, </a:t>
            </a:r>
            <a:r>
              <a:rPr lang="it" sz="5053"/>
              <a:t>il LED interno al PC817 è spento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e il fototransistor è in stato di interdizione. Il pin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digitale è collegato alla linea dei 5V tramite il resistore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da 10kΩ, che mantiene il potenziale elettrico allo stato HIGH.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In presenza di metalli, il LED si attiva e il fototransistor entra in stato di saturazione, chiudendo il circuito verso la massa (GND).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Il resistore da 10kΩ permette al pin di scendere a 0V,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inoltre stabilisce un legame a bassa impedenza rispetto 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ai disturbi ambientali.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41900" y="876725"/>
            <a:ext cx="8260200" cy="13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5800" u="sng"/>
              <a:t>Modulo di pull-up per la comunicazione con Arduino</a:t>
            </a:r>
            <a:endParaRPr b="1" sz="5800" u="sng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it" sz="3800" u="sng"/>
            </a:br>
            <a:r>
              <a:rPr lang="it" sz="5053"/>
              <a:t>Sul lato secondario del PC817, il fototransistor funge da isolamento galvanico ed interruttore logico per il dominio a 5V di Arduino.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Il Pin 3 (collettore) è collegato al pin A0 di Arduino, configurato come input digitale, e alla linea dei 5V tramite una resistenza di pull-up da 10kΩ.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 Il Pin 4 (emettitore) è collegato alla massa comune GND, sulla linea superiore della breadboard.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Schema e funzionamento del circuito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7100" y="2456000"/>
            <a:ext cx="4569001" cy="236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441900" y="2082250"/>
            <a:ext cx="3816300" cy="28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I Pin SDA e SCL del GY-273 sono collegati ai Pin A4 Serial Data (SDA) e A5 Serial Clock (SCL) di Arduino.</a:t>
            </a:r>
            <a:br>
              <a:rPr lang="it" sz="5053"/>
            </a:br>
            <a:r>
              <a:rPr lang="it" sz="5053"/>
              <a:t>SDA permette ai dati relativi agli assi X,Y e Z di</a:t>
            </a: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transitare in maniera bidirezionale.</a:t>
            </a: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Il Pin VCC riceve l’alimentazione dalla linea a 5V della breadboard, mentre il Pin GND è collegato alla linea di massa comune (GND). Quest’ultimo è un requisito fondamentale. Infatti, la linea GND comune agisce da potenziale zero di riferimento per tutti i microcontrollori.</a:t>
            </a: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Se così non fosse le letture avrebbero valori totalmente falsati, in quanto effettuate basandosi su di un sistema di riferimento non comune fra Arduino e il magnetometro.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441900" y="876725"/>
            <a:ext cx="8260200" cy="13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5800" u="sng"/>
              <a:t>Modulo di comunicazione I2C e sensore magnetometro GY-273</a:t>
            </a:r>
            <a:endParaRPr b="1" sz="5800" u="sng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it" sz="3800" u="sng"/>
            </a:br>
            <a:r>
              <a:rPr lang="it" sz="5053"/>
              <a:t>L’acquisizione del valore del campo magnetico locale è affidata al sensore magnetometro GY-273, tramite il chip QMC5883L.</a:t>
            </a:r>
            <a:br>
              <a:rPr lang="it" sz="5053"/>
            </a:br>
            <a:r>
              <a:rPr lang="it" sz="5053"/>
              <a:t>Esso è interfacciato ad Arduino tramite il bus seriale sincrono I2C (Inter-Integrated-Circuit); questo metodo standard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di comunicazione permette lo scambio dei dati digitali tramite due linee di segnale.</a:t>
            </a:r>
            <a:endParaRPr sz="5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441900" y="1017450"/>
            <a:ext cx="8260200" cy="12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5800" u="sng"/>
              <a:t>Modulo di adattamento dei livelli logici per la comunicazione con ESP32</a:t>
            </a:r>
            <a:endParaRPr b="1" sz="5800" u="sng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La comunicazione dei dati processati avviene tramite il protocollo seriale asincrono UART che collega l’uscita TX di Arduino all’ingresso RX dell’ESP32.</a:t>
            </a:r>
            <a:br>
              <a:rPr lang="it" sz="5053"/>
            </a:br>
            <a:r>
              <a:rPr lang="it" sz="5053"/>
              <a:t> Il segnale in uscita da TX, infatti, consiste in un treno di impulsi digitali a 5V codificati in formato ASCII, per rappresentare i valori numerici della perturbazione magnetica letta dal GY-273.</a:t>
            </a:r>
            <a:br>
              <a:rPr lang="it" sz="5053"/>
            </a:br>
            <a:endParaRPr sz="5053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4"/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Schema e funzionamento del circuito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471488"/>
            <a:ext cx="4476799" cy="2320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441900" y="2049900"/>
            <a:ext cx="3816300" cy="26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Tuttavia, mentre Arduino opera con una logica a 5V, l’ESP32 utilizza una logica a 3.3V, rendendo necessario un partitore di tensione resistivo, in modo da evitare il danneggiamento dei pin di ingresso della scheda ESP32.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 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053"/>
              <a:t>Il partitore è composto da due resistori in serie, posti tra il segnale TX e la massa comune (GND),il primo da 2.2kΩ e il secondo da 4.7kΩ. Applicando il calcolo della tensione in uscita secondo la formula del partitore, il risultato è di circa 3.4V. Valore è ottimale per il corretto funzionamento della comunicazione, poichè supera la tensione minima richiesta per riconoscere lo stato logico HIGH (circa 2.4V) e non costituisce alcun pericolo per la scheda ESP32.</a:t>
            </a:r>
            <a:endParaRPr sz="5053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Schema e funzionamento del circuito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7146" r="2397" t="0"/>
          <a:stretch/>
        </p:blipFill>
        <p:spPr>
          <a:xfrm>
            <a:off x="4168150" y="2090275"/>
            <a:ext cx="4732401" cy="2711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441900" y="942500"/>
            <a:ext cx="3816300" cy="38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 u="sng"/>
              <a:t>Modulo di ricezione dei dati con UART tramite GPIO 16/17</a:t>
            </a:r>
            <a:endParaRPr b="1" sz="1200" u="sng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Il segnale attenuato dal partitore resistivo viene ricevuto dall’ ESP32 tramite i pin riservati alla comunicazione UART2.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Il Pin GPIO 16 (RX2) è dedicato alla ricezione dei dati, tramite il segnale a 3.4V proveniente dal Pin 11 (TX) di Arduino.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" sz="1200"/>
            </a:br>
            <a:r>
              <a:rPr lang="it" sz="1200"/>
              <a:t>Il Pin GPIO 17 (TX2) è dedicato alla comunicazione bidirezionale verso Arduino, che riceve i dati grazie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al Pin 10 (RX).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it" sz="1200"/>
              <a:t>In questo sistema, tuttavia, l'ESP32 opera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it" sz="1200"/>
              <a:t>principalmente in ricezione, il flusso di dati è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it" sz="1200"/>
              <a:t>unidirezionale da Arduino ad ESP32.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auradetector.ino parte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36525" y="1139750"/>
            <a:ext cx="4573500" cy="3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2" name="Google Shape;132;p22" title="Schermata del 2026-01-14 14-49-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9850"/>
            <a:ext cx="4725899" cy="333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 title="Schermata del 2026-01-14 14-49-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5900" y="1169850"/>
            <a:ext cx="4418100" cy="333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auradetector.ino parte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9" name="Google Shape;139;p23" title="Schermata del 2026-01-14 14-50-02.png"/>
          <p:cNvPicPr preferRelativeResize="0"/>
          <p:nvPr/>
        </p:nvPicPr>
        <p:blipFill rotWithShape="1">
          <a:blip r:embed="rId3">
            <a:alphaModFix/>
          </a:blip>
          <a:srcRect b="544" l="0" r="0" t="544"/>
          <a:stretch/>
        </p:blipFill>
        <p:spPr>
          <a:xfrm>
            <a:off x="0" y="1169850"/>
            <a:ext cx="4610151" cy="333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Schermata del 2026-01-14 14-50-10.png"/>
          <p:cNvPicPr preferRelativeResize="0"/>
          <p:nvPr/>
        </p:nvPicPr>
        <p:blipFill rotWithShape="1">
          <a:blip r:embed="rId4">
            <a:alphaModFix/>
          </a:blip>
          <a:srcRect b="0" l="0" r="4752" t="0"/>
          <a:stretch/>
        </p:blipFill>
        <p:spPr>
          <a:xfrm>
            <a:off x="4610025" y="1169875"/>
            <a:ext cx="4533975" cy="333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main.py per ESP32 parte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6" name="Google Shape;146;p24" title="Schermata del 2026-01-14 15-08-5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80925"/>
            <a:ext cx="4610149" cy="408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 title="Schermata del 2026-01-14 15-00-2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0150" y="980925"/>
            <a:ext cx="4534251" cy="4081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main.py per ESP32 parte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3" name="Google Shape;153;p25" title="Schermata del 2026-01-14 15-00-3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25" y="981575"/>
            <a:ext cx="3540823" cy="406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Schermata del 2026-01-14 15-01-17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7850" y="4236350"/>
            <a:ext cx="3607450" cy="8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auradetector.py GUI parte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0" name="Google Shape;160;p26" title="Schermata del 2026-01-14 15-16-38.png"/>
          <p:cNvPicPr preferRelativeResize="0"/>
          <p:nvPr/>
        </p:nvPicPr>
        <p:blipFill rotWithShape="1">
          <a:blip r:embed="rId3">
            <a:alphaModFix/>
          </a:blip>
          <a:srcRect b="0" l="0" r="793" t="0"/>
          <a:stretch/>
        </p:blipFill>
        <p:spPr>
          <a:xfrm>
            <a:off x="0" y="942350"/>
            <a:ext cx="5216550" cy="411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 title="Schermata del 2026-01-14 15-17-1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6550" y="942350"/>
            <a:ext cx="3927450" cy="411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auradetector.py GUI parte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7" name="Google Shape;167;p27" title="Schermata del 2026-01-14 15-18-17.png"/>
          <p:cNvPicPr preferRelativeResize="0"/>
          <p:nvPr/>
        </p:nvPicPr>
        <p:blipFill rotWithShape="1">
          <a:blip r:embed="rId3">
            <a:alphaModFix/>
          </a:blip>
          <a:srcRect b="169" l="0" r="0" t="159"/>
          <a:stretch/>
        </p:blipFill>
        <p:spPr>
          <a:xfrm>
            <a:off x="0" y="942350"/>
            <a:ext cx="4651025" cy="411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 title="Schermata del 2026-01-14 15-18-30.png"/>
          <p:cNvPicPr preferRelativeResize="0"/>
          <p:nvPr/>
        </p:nvPicPr>
        <p:blipFill rotWithShape="1">
          <a:blip r:embed="rId4">
            <a:alphaModFix/>
          </a:blip>
          <a:srcRect b="0" l="0" r="1185" t="0"/>
          <a:stretch/>
        </p:blipFill>
        <p:spPr>
          <a:xfrm>
            <a:off x="4651025" y="942350"/>
            <a:ext cx="4492975" cy="411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auradetector.py GUI parte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4" name="Google Shape;174;p28" title="Schermata del 2026-01-14 15-18-3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9825" y="1479400"/>
            <a:ext cx="6564349" cy="26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Avvio e funzionamento del sistema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441900" y="1921225"/>
            <a:ext cx="8390400" cy="28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 u="sng"/>
              <a:t>1)  </a:t>
            </a:r>
            <a:r>
              <a:rPr b="1" lang="it" sz="1200" u="sng"/>
              <a:t>Calibrazione ambientale</a:t>
            </a:r>
            <a:endParaRPr b="1" sz="1200" u="sng"/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/>
          </a:p>
          <a:p>
            <a:pPr indent="0" lvl="0" marL="89999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Una volta avviati gli script di Arduino (auradetector.ino)</a:t>
            </a:r>
            <a:endParaRPr sz="1200"/>
          </a:p>
          <a:p>
            <a:pPr indent="0" lvl="0" marL="89999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ed ESP32 (main.py), il sistema avvia una procedura di Calibrazione ambientale.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89999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Arduino campiona il campo magnetico locale tramite il magnetometro GY-273, effettuando la media aritmetica</a:t>
            </a:r>
            <a:endParaRPr sz="1200"/>
          </a:p>
          <a:p>
            <a:pPr indent="0" lvl="0" marL="89999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di 50 letture consecutive.</a:t>
            </a:r>
            <a:endParaRPr sz="1200"/>
          </a:p>
          <a:p>
            <a:pPr indent="0" lvl="0" marL="89999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Inoltre, durante questa fase Arduino invia messaggi di stato all’ESP32 tramite UART, per informare l’utente.</a:t>
            </a:r>
            <a:endParaRPr sz="1200"/>
          </a:p>
          <a:p>
            <a:pPr indent="0" lvl="0" marL="89999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89999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Questa procedura è fondamentale al fine della lettura precisa delle perturbazioni magnetiche da parte del magnetometro GY-273.</a:t>
            </a:r>
            <a:endParaRPr b="1" sz="1200" u="sng"/>
          </a:p>
        </p:txBody>
      </p:sp>
      <p:sp>
        <p:nvSpPr>
          <p:cNvPr id="181" name="Google Shape;181;p29"/>
          <p:cNvSpPr txBox="1"/>
          <p:nvPr/>
        </p:nvSpPr>
        <p:spPr>
          <a:xfrm>
            <a:off x="485375" y="970750"/>
            <a:ext cx="82836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Precondizioni di avvio:</a:t>
            </a:r>
            <a:endParaRPr b="1" sz="12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-"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Attivare il Bluetooth sul dispositivo da connettere all’ESP32 tramite BLE.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-"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Collegare il connettore snap ai terminali della batteria da 9V.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-"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Cablare il dispositivo alle schede Arduino ed ESP32 mediante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Avvio e funzionamento del sistema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464675" y="2739450"/>
            <a:ext cx="83250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 u="sng"/>
              <a:t>3</a:t>
            </a:r>
            <a:r>
              <a:rPr b="1" lang="it" sz="1200" u="sng"/>
              <a:t>) Trasmissione dati verso ESP32</a:t>
            </a:r>
            <a:endParaRPr b="1" sz="1200" u="sng"/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I dati fluiscono da Arduino all’ESP32 tramite una connessione seriale a 9600 baud.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L’ESP32 utilizza un task asincrono (uasyncio) per accumulare i byte in arrivo e ricostruire le stringhe di testo complete,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evitando la perdita di pacchetti.</a:t>
            </a:r>
            <a:endParaRPr sz="1200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 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I dati ricomposti vengono trasmessi tramite il servizio Nordic UART. L’ESP32 riceve via cavo i dati e li invia via etere ai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dispositivi client connessi (PC) mediante protocollo BLE.</a:t>
            </a:r>
            <a:endParaRPr sz="1200"/>
          </a:p>
        </p:txBody>
      </p:sp>
      <p:sp>
        <p:nvSpPr>
          <p:cNvPr id="188" name="Google Shape;188;p30"/>
          <p:cNvSpPr txBox="1"/>
          <p:nvPr/>
        </p:nvSpPr>
        <p:spPr>
          <a:xfrm>
            <a:off x="464675" y="970750"/>
            <a:ext cx="82836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2) Rilevazione dei metalli e calcolo della perturbazione</a:t>
            </a:r>
            <a:endParaRPr b="1" sz="12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Terminata la calibrazione il dispositivo entra in modalità operativa in cui il sensore induttivo monitora costantemente la presenza di oggetti metallici.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Quando il sensore induttivo rileva un metallo, Arduino interroga il magnetometro per leggere l’intensità del campo magnetico in quell’istante (calcolata come modulo vettoriale ).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Arduino calcola il valore assoluto della differenza tra il  valore del campo magnetico attuale e quello rilevato con la calibrazione ambientale.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Questo valore rappresenta la perturbazione magnetica causata dall’oggetto.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Avvio e funzionamento del sistema</a:t>
            </a:r>
            <a:endParaRPr/>
          </a:p>
        </p:txBody>
      </p:sp>
      <p:sp>
        <p:nvSpPr>
          <p:cNvPr id="194" name="Google Shape;194;p31"/>
          <p:cNvSpPr txBox="1"/>
          <p:nvPr/>
        </p:nvSpPr>
        <p:spPr>
          <a:xfrm>
            <a:off x="445250" y="955725"/>
            <a:ext cx="8283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4) Discriminazione e visualizzazione con GUI Python</a:t>
            </a:r>
            <a:endParaRPr b="1" sz="12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L’app Python riceve i dati via Bluetooth e processa il segnale in tempo reale rappresentandolo mediante un’interfaccia grafica.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Il software confronta il valore con una soglia (50 unità).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 il valore di perturbazione è inferiore, il metallo rilevato dal sensore induttivo viene ritenuto non ferroso, colorando di verde l’interfaccia, altrimenti viene ritenuto ferroso, colorando di rosso l’interfaccia.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Per la visualizzazione dei dati, il software utilizza una modellazione tramite distribuzione normale (Gaussiana).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Viene generata una curva di densità di probabilità centrata sul valore di perturbazione istantaneo, utilizzando una deviazione standard fissa (15 unità).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5) Chiusura del software e reboot automatico del sistema</a:t>
            </a:r>
            <a:endParaRPr b="1" sz="12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Quando l’utente chiude l’applicazione sul PC, il driver Bluetooth invia un segnale di disconnessione, l’ESP32 rileva la fine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della sessione e chiama un Hardware Reset in modo da riavviare l’hardware, pulire lo stack radio e riportare il dispositivo in modalità Advertising, pronto per collegarsi via Bluetooth ad un nuovo dispositivo senza interventi manuali.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Grazie per l’attenzione!</a:t>
            </a:r>
            <a:endParaRPr/>
          </a:p>
        </p:txBody>
      </p:sp>
      <p:sp>
        <p:nvSpPr>
          <p:cNvPr id="200" name="Google Shape;200;p32"/>
          <p:cNvSpPr txBox="1"/>
          <p:nvPr/>
        </p:nvSpPr>
        <p:spPr>
          <a:xfrm>
            <a:off x="5779125" y="4347150"/>
            <a:ext cx="32877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Marco Melegatti ~ VR502471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Luca Belloni ~ VR503921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