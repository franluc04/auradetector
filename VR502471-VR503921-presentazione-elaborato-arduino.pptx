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7.png" ContentType="image/png"/>
  <Override PartName="/ppt/media/image16.png" ContentType="image/png"/>
  <Override PartName="/ppt/media/image13.png" ContentType="image/png"/>
  <Override PartName="/ppt/media/image19.png" ContentType="image/png"/>
  <Override PartName="/ppt/media/image1.jpeg" ContentType="image/jpeg"/>
  <Override PartName="/ppt/media/image2.jpeg" ContentType="image/jpeg"/>
  <Override PartName="/ppt/media/image3.jpeg" ContentType="image/jpeg"/>
  <Override PartName="/ppt/media/image15.png" ContentType="image/png"/>
  <Override PartName="/ppt/media/image4.jpeg" ContentType="image/jpeg"/>
  <Override PartName="/ppt/media/image14.png" ContentType="image/png"/>
  <Override PartName="/ppt/media/image5.png" ContentType="image/png"/>
  <Override PartName="/ppt/media/image10.png" ContentType="image/png"/>
  <Override PartName="/ppt/media/image6.jpeg" ContentType="image/jpeg"/>
  <Override PartName="/ppt/media/image20.png" ContentType="image/png"/>
  <Override PartName="/ppt/media/image9.png" ContentType="image/png"/>
  <Override PartName="/ppt/media/image1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D4533B-DC70-4631-BBFE-AE6C754668F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D6E2D7-3BB8-4ED9-A04A-43F2C50ABC8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238783-EBD7-4975-AF07-DC463803DDE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F16F60B-C556-48FC-8238-6C604BD7C33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261C1B-44D7-4266-A256-3EAB38FFD3D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FC88FA-A7C4-4A08-AF42-644576F3E95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519A0D9-8012-49BF-88DB-A1F4587F43B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18688D-816A-4D98-A2DB-024D4C9D1F2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1C31C15-49C8-4182-A243-5AD91D3203A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9247A84-3C1C-4FB4-97F3-5A2504736EC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57CA59-0B53-45A4-BEA1-8D91BC05480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2748960" y="748800"/>
            <a:ext cx="3645360" cy="3645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11;p2"/>
          <p:cNvSpPr/>
          <p:nvPr/>
        </p:nvSpPr>
        <p:spPr>
          <a:xfrm>
            <a:off x="2993040" y="992880"/>
            <a:ext cx="3157560" cy="3157560"/>
          </a:xfrm>
          <a:prstGeom prst="rect">
            <a:avLst/>
          </a:prstGeom>
          <a:noFill/>
          <a:ln w="2857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9400" y="1423800"/>
            <a:ext cx="812412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2641EF-FBCC-43E1-B41C-00C399185D86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Fai clic per modificare il formato del testo </a:t>
            </a: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della struttura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9;p11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C3D92F-2221-4F1B-A509-CEF3362BCE93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C7E7E-4B6C-4392-9B06-A1C29F11426C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DCA9C6-B7E7-4FBC-910A-870F650C51E9}" type="slidenum">
              <a:rPr b="0" lang="it" sz="1000" spc="-1" strike="noStrike">
                <a:solidFill>
                  <a:schemeClr val="lt1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ffffff"/>
                </a:solidFill>
                <a:latin typeface="Arial"/>
              </a:rPr>
              <a:t>Fai clic per </a:t>
            </a:r>
            <a:r>
              <a:rPr b="0" lang="it-IT" sz="4400" spc="-1" strike="noStrike">
                <a:solidFill>
                  <a:srgbClr val="ffffff"/>
                </a:solidFill>
                <a:latin typeface="Arial"/>
              </a:rPr>
              <a:t>modificare il </a:t>
            </a:r>
            <a:r>
              <a:rPr b="0" lang="it-IT" sz="4400" spc="-1" strike="noStrike">
                <a:solidFill>
                  <a:srgbClr val="ffffff"/>
                </a:solidFill>
                <a:latin typeface="Arial"/>
              </a:rPr>
              <a:t>formato del </a:t>
            </a:r>
            <a:r>
              <a:rPr b="0" lang="it-IT" sz="4400" spc="-1" strike="noStrike">
                <a:solidFill>
                  <a:srgbClr val="ffffff"/>
                </a:solidFill>
                <a:latin typeface="Arial"/>
              </a:rPr>
              <a:t>testo del titolo</a:t>
            </a:r>
            <a:endParaRPr b="0" lang="it-I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ffffff"/>
                </a:solidFill>
                <a:latin typeface="Arial"/>
              </a:rPr>
              <a:t>Fai clic per modificare il formato del testo della struttura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ffffff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ffffff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ffffff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ffffff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ffffff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ffffff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9;p4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9400" y="1423800"/>
            <a:ext cx="812412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3BB837-410E-4E54-A4B2-3D84C3CFD854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9400" y="1423800"/>
            <a:ext cx="812412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BC65A7-ECD1-49F5-A534-63EE6CC1FCFF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9400" y="1423800"/>
            <a:ext cx="812412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B389E8-E6EB-42F7-ACD6-830AB6DB6384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03E009-1609-4628-BF66-A83BA4777C5B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AF607D-EB9C-4457-BE4E-F46C73257403}" type="slidenum">
              <a:rPr b="0" lang="it" sz="1000" spc="-1" strike="noStrike">
                <a:solidFill>
                  <a:schemeClr val="lt1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9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" name="Google Shape;40;p9"/>
          <p:cNvCxnSpPr/>
          <p:nvPr/>
        </p:nvCxnSpPr>
        <p:spPr>
          <a:xfrm>
            <a:off x="5029560" y="4495320"/>
            <a:ext cx="469080" cy="72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3" name="PlaceHolder 1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FB5989-5CFC-4E52-9941-CCFE2DFBD5A9}" type="slidenum">
              <a:rPr b="0" lang="it" sz="1000" spc="-1" strike="noStrike">
                <a:solidFill>
                  <a:schemeClr val="lt1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73E507-E499-4044-AD28-F93C01EA2876}" type="slidenum">
              <a:rPr b="0" lang="it" sz="1000" spc="-1" strike="noStrike">
                <a:solidFill>
                  <a:schemeClr val="dk2"/>
                </a:solidFill>
                <a:latin typeface="Lato"/>
                <a:ea typeface="Lato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880000" y="1440000"/>
            <a:ext cx="3419640" cy="143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lt1"/>
                </a:solidFill>
                <a:latin typeface="Consolas"/>
                <a:ea typeface="Consolas"/>
              </a:rPr>
              <a:t>AuraDetector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3096360" y="3267000"/>
            <a:ext cx="2950560" cy="700560"/>
          </a:xfrm>
          <a:prstGeom prst="rect">
            <a:avLst/>
          </a:prstGeom>
          <a:noFill/>
          <a:ln w="9360">
            <a:solidFill>
              <a:schemeClr val="lt1"/>
            </a:solidFill>
            <a:round/>
          </a:ln>
        </p:spPr>
        <p:txBody>
          <a:bodyPr lIns="91440" rIns="91440" tIns="91440" bIns="91440" anchor="b">
            <a:normAutofit fontScale="75000" lnSpcReduction="2000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1800" spc="-1" strike="noStrike">
                <a:solidFill>
                  <a:schemeClr val="lt1"/>
                </a:solidFill>
                <a:latin typeface="Consolas"/>
                <a:ea typeface="Consolas"/>
              </a:rPr>
              <a:t>Elaborato per il corso di prototipizzazione con Arduino A.A. 2025/2026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61;p13"/>
          <p:cNvSpPr/>
          <p:nvPr/>
        </p:nvSpPr>
        <p:spPr>
          <a:xfrm>
            <a:off x="3096360" y="1018080"/>
            <a:ext cx="178344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Marco Melegatti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    </a:t>
            </a: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VR502471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62;p13"/>
          <p:cNvSpPr/>
          <p:nvPr/>
        </p:nvSpPr>
        <p:spPr>
          <a:xfrm>
            <a:off x="4263840" y="1018080"/>
            <a:ext cx="178344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Luca Belloni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        </a:t>
            </a:r>
            <a:r>
              <a:rPr b="0" lang="it" sz="1200" spc="-1" strike="noStrike">
                <a:solidFill>
                  <a:schemeClr val="lt1"/>
                </a:solidFill>
                <a:latin typeface="Consolas"/>
                <a:ea typeface="Consolas"/>
              </a:rPr>
              <a:t>VR503921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Introduzione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502160" cy="386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800" spc="-1" strike="noStrike">
                <a:solidFill>
                  <a:schemeClr val="dk2"/>
                </a:solidFill>
                <a:latin typeface="Lato"/>
                <a:ea typeface="Lato"/>
              </a:rPr>
              <a:t>Il progetto AuraDetector consiste in un sistema dedicato al rilevamento e alla discriminazione di oggetti metallici.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it" sz="1800" spc="-1" strike="noStrike">
                <a:solidFill>
                  <a:schemeClr val="dk2"/>
                </a:solidFill>
                <a:latin typeface="Lato"/>
                <a:ea typeface="Lato"/>
              </a:rPr>
              <a:t>Infatti è in grado di svolgere una distinzione istantanea in tempo reale tra metalli con proprietà ferromagnetiche (indicati come ferrosi) e metalli con proprietà paramagnetiche o diamagnetiche (indicati come non ferrosi)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oogle Shape;69;p14" descr=""/>
          <p:cNvPicPr/>
          <p:nvPr/>
        </p:nvPicPr>
        <p:blipFill>
          <a:blip r:embed="rId1"/>
          <a:srcRect l="11589" t="15865" r="10780" b="11956"/>
          <a:stretch/>
        </p:blipFill>
        <p:spPr>
          <a:xfrm>
            <a:off x="5304240" y="1017360"/>
            <a:ext cx="3052800" cy="189180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70;p14" descr=""/>
          <p:cNvPicPr/>
          <p:nvPr/>
        </p:nvPicPr>
        <p:blipFill>
          <a:blip r:embed="rId2"/>
          <a:stretch/>
        </p:blipFill>
        <p:spPr>
          <a:xfrm>
            <a:off x="5251680" y="2932560"/>
            <a:ext cx="3052800" cy="203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Moduli Principali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11760" y="1017360"/>
            <a:ext cx="4259520" cy="397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1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acquisizione dati: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00000"/>
              </a:lnSpc>
              <a:spcBef>
                <a:spcPts val="1199"/>
              </a:spcBef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Sensore induttivo LJ12A3-4-Z/BX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: basato sulla logica NPN (Normally Open), viene utilizzato per il rilevamento di materiali metallici, ad una distanza di circa 4 mm.</a:t>
            </a: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5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00000"/>
              </a:lnSpc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Magnetometro GY-273: 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grazie al chip QML5883L, è</a:t>
            </a: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in grado di misurare le perturbazioni del campo magnetico locale indotte dal materiale metallico, una volta rilevate dal sensore induttivo.</a:t>
            </a: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5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Scheda Arduino Uno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: Per l’elaborazione dei segnali analogici e la calibrazione ambientale del sistema</a:t>
            </a: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Google Shape;77;p15" descr=""/>
          <p:cNvPicPr/>
          <p:nvPr/>
        </p:nvPicPr>
        <p:blipFill>
          <a:blip r:embed="rId1"/>
          <a:srcRect l="0" t="5647" r="0" b="7990"/>
          <a:stretch/>
        </p:blipFill>
        <p:spPr>
          <a:xfrm>
            <a:off x="5982840" y="3477600"/>
            <a:ext cx="1784160" cy="1540800"/>
          </a:xfrm>
          <a:prstGeom prst="rect">
            <a:avLst/>
          </a:prstGeom>
          <a:ln w="0">
            <a:noFill/>
          </a:ln>
        </p:spPr>
      </p:pic>
      <p:pic>
        <p:nvPicPr>
          <p:cNvPr id="46" name="Google Shape;78;p15" descr=""/>
          <p:cNvPicPr/>
          <p:nvPr/>
        </p:nvPicPr>
        <p:blipFill>
          <a:blip r:embed="rId2"/>
          <a:stretch/>
        </p:blipFill>
        <p:spPr>
          <a:xfrm>
            <a:off x="6072120" y="1017360"/>
            <a:ext cx="1576800" cy="236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Moduli Principali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017360"/>
            <a:ext cx="4259520" cy="397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1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comunicazione dati: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2200">
              <a:lnSpc>
                <a:spcPct val="100000"/>
              </a:lnSpc>
              <a:spcBef>
                <a:spcPts val="1199"/>
              </a:spcBef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Scheda ESP32: 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programmata in Micropython,</a:t>
            </a: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funge da gateway asincrono UART-BLE ricevendo i dati da Arduino, trasmettendoli poi via Bluetooth al dispositivo (PC) connesso.</a:t>
            </a: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it" sz="1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visualizzazione dati: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2200">
              <a:lnSpc>
                <a:spcPct val="100000"/>
              </a:lnSpc>
              <a:spcBef>
                <a:spcPts val="1199"/>
              </a:spcBef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1" lang="it" sz="1660" spc="-1" strike="noStrike">
                <a:solidFill>
                  <a:schemeClr val="dk2"/>
                </a:solidFill>
                <a:latin typeface="Lato"/>
                <a:ea typeface="Lato"/>
              </a:rPr>
              <a:t>Applicazione con ambiente Python: </a:t>
            </a:r>
            <a:r>
              <a:rPr b="0" lang="it" sz="1660" spc="-1" strike="noStrike">
                <a:solidFill>
                  <a:schemeClr val="dk2"/>
                </a:solidFill>
                <a:latin typeface="Lato"/>
                <a:ea typeface="Lato"/>
              </a:rPr>
              <a:t>Per la ricezione tramite Bluetooth e la elaborazione dei dati in tempo reale. Inoltre provvede anche ad una rappresentazione grafica della perturbazione del campo magnetico locale mediante una curva gaussiana.</a:t>
            </a: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85;p16" descr=""/>
          <p:cNvPicPr/>
          <p:nvPr/>
        </p:nvPicPr>
        <p:blipFill>
          <a:blip r:embed="rId1"/>
          <a:stretch/>
        </p:blipFill>
        <p:spPr>
          <a:xfrm>
            <a:off x="5333400" y="3041640"/>
            <a:ext cx="3723120" cy="194760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86;p16" descr=""/>
          <p:cNvPicPr/>
          <p:nvPr/>
        </p:nvPicPr>
        <p:blipFill>
          <a:blip r:embed="rId2"/>
          <a:stretch/>
        </p:blipFill>
        <p:spPr>
          <a:xfrm>
            <a:off x="6068880" y="1017360"/>
            <a:ext cx="2023560" cy="202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442080" y="1017360"/>
            <a:ext cx="8259480" cy="12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19444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5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alimentazione e sensore induttivo LJ12A3-4-Z/BX</a:t>
            </a:r>
            <a:endParaRPr b="0" lang="it-IT" sz="5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Alimentato dalla batteria da 9V, svolge la funzione di trigger per l’intero sistema.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L’uscita del sensore induttivo, in assenza di oggetti metallici, è flottante (poiché il transistor interno al sensore è 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aperto, secondo la logica NPN).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fotoaccoppiatore PC817 riceve la corrente da 9V dalla linea positiva inferiore, ma il circuito rimane interrotto.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br>
              <a:rPr sz="1400"/>
            </a:b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Schema e funzionamento del circuito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oogle Shape;93;p17" descr=""/>
          <p:cNvPicPr/>
          <p:nvPr/>
        </p:nvPicPr>
        <p:blipFill>
          <a:blip r:embed="rId1"/>
          <a:stretch/>
        </p:blipFill>
        <p:spPr>
          <a:xfrm>
            <a:off x="4572000" y="2281680"/>
            <a:ext cx="4391280" cy="227556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42080" y="2049840"/>
            <a:ext cx="3815640" cy="26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1111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Rilevato un metallo, il transistor interno al sensore si chiude, rendendo il cavo di output (nero) un cavo di massa.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La corrente a 9V, scorre verso il Pin 1 (anodo) del fotoaccoppiatore, limitata dal resistore da 1kΩ, in modo da proteggere il componente garantendo la saturazione del fototransistor interno sul lato secondario.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La corrente in uscita dal Pin 2 (catodo), scorre lungo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cavo di output del sensore induttivo, chiudendo il circuito tramite il cavo di massa (blu) nella linea GND inferiore della breadboard.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Schema e </a:t>
            </a: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funzionamento </a:t>
            </a: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del circuito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oogle Shape;100;p18" descr=""/>
          <p:cNvPicPr/>
          <p:nvPr/>
        </p:nvPicPr>
        <p:blipFill>
          <a:blip r:embed="rId1"/>
          <a:stretch/>
        </p:blipFill>
        <p:spPr>
          <a:xfrm>
            <a:off x="4527000" y="2455920"/>
            <a:ext cx="4568400" cy="236736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42080" y="2237760"/>
            <a:ext cx="3815640" cy="258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1111" lnSpcReduction="2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In assenza di metalli, il LED interno al PC817 è spento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e il fototransistor è in stato di interdizione. Il pin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digitale è collegato alla linea dei 5V tramite il resistore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da 10kΩ, che mantiene il potenziale elettrico allo stato HIGH.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In presenza di metalli, il LED si attiva e il fototransistor entra in stato di saturazione, chiudendo il circuito verso la massa (GND).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resistore da 10kΩ permette al pin di scendere a 0V,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inoltre stabilisce un legame a bassa impedenza rispetto 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ai disturbi ambientali.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42080" y="876600"/>
            <a:ext cx="8259480" cy="13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1111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5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pull-up per la comunicazione con Arduino</a:t>
            </a:r>
            <a:endParaRPr b="0" lang="it-IT" sz="5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br>
              <a:rPr sz="3800"/>
            </a:b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Sul lato secondario del PC817, il fototransistor funge da isolamento galvanico ed interruttore logico per il dominio a 5V di Arduino.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Pin 3 (collettore) è collegato al pin A0 di Arduino, configurato come input digitale, e alla linea dei 5V tramite una resistenza di pull-up da </a:t>
            </a: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10kΩ.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Pin 4 (emettitore) è collegato alla massa comune GND, sulla linea superiore della breadboard.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Schema e funzionamento del circuito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Google Shape;108;p19" descr=""/>
          <p:cNvPicPr/>
          <p:nvPr/>
        </p:nvPicPr>
        <p:blipFill>
          <a:blip r:embed="rId1"/>
          <a:stretch/>
        </p:blipFill>
        <p:spPr>
          <a:xfrm>
            <a:off x="4527000" y="2455920"/>
            <a:ext cx="4568400" cy="236736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42080" y="2082240"/>
            <a:ext cx="3815640" cy="280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1111" lnSpcReduction="2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 Pin SDA e SCL del GY-273 sono collegati ai Pin A4 Serial Data (SDA) e A5 Serial Clock (SCL) di Arduino.</a:t>
            </a:r>
            <a:br>
              <a:rPr sz="5050"/>
            </a:b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SDA permette ai dati relativi agli assi X,Y e Z di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transitare in maniera bidirezionale.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Pin VCC riceve l’alimentazione dalla linea a 5V della breadboard, mentre il Pin GND è collegato alla linea di massa comune (GND). Quest’ultimo è un requisito fondamentale. Infatti, la linea GND comune agisce da potenziale zero di riferimento per tutti i microcontrollori.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Se così non fosse le letture avrebbero valori totalmente falsati, in quanto effettuate basandosi su di un sistema di riferimento non comune fra Arduino e il magnetometro.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42080" y="876600"/>
            <a:ext cx="8259480" cy="13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2777" lnSpcReduction="2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5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comunicazione I2C e sensore magnetometro GY-273</a:t>
            </a:r>
            <a:endParaRPr b="0" lang="it-IT" sz="5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br>
              <a:rPr sz="3800"/>
            </a:b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L’acquisizione del valore del campo magnetico locale è affidata al sensore magnetometro GY-273, tramite il chip QMC5883L.</a:t>
            </a:r>
            <a:br>
              <a:rPr sz="5050"/>
            </a:b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Esso è interfacciato ad Arduino tramite il bus seriale sincrono I2C (Inter-Integrated-Circuit); questo metodo standard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di comunicazione permette lo scambio dei dati digitali tramite due linee di segnale.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442080" y="1017360"/>
            <a:ext cx="8259480" cy="12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19444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58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adattamento dei livelli logici per la comunicazione con ESP32</a:t>
            </a:r>
            <a:endParaRPr b="0" lang="it-IT" sz="5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La comunicazione dei dati processati avviene tramite il protocollo seriale asincrono UART che collega l’uscita TX di Arduino all’ingresso RX dell’ESP32.</a:t>
            </a:r>
            <a:br>
              <a:rPr sz="5050"/>
            </a:b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 Il segnale in uscita da TX, infatti, consiste in un treno di impulsi digitali a 5V codificati in formato ASCII, per rappresentare i valori numerici della perturbazione magnetica letta dal GY-273.</a:t>
            </a:r>
            <a:br>
              <a:rPr sz="5050"/>
            </a:b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Schema e funzionamento del circuito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117;p20" descr=""/>
          <p:cNvPicPr/>
          <p:nvPr/>
        </p:nvPicPr>
        <p:blipFill>
          <a:blip r:embed="rId1"/>
          <a:stretch/>
        </p:blipFill>
        <p:spPr>
          <a:xfrm>
            <a:off x="4572000" y="2471400"/>
            <a:ext cx="4476240" cy="231948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42080" y="2049840"/>
            <a:ext cx="3815640" cy="26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1111" lnSpcReduction="2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Tuttavia, mentre Arduino opera con una logica a 5V, l’ESP32 utilizza una logica a 3.3V, rendendo necessario un partitore di tensione resistivo, in modo da evitare il danneggiamento dei pin di ingresso della scheda ESP32.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5050" spc="-1" strike="noStrike">
                <a:solidFill>
                  <a:schemeClr val="dk2"/>
                </a:solidFill>
                <a:latin typeface="Lato"/>
                <a:ea typeface="Lato"/>
              </a:rPr>
              <a:t>Il partitore è composto da due resistori in serie, posti tra il segnale TX e la massa comune (GND),il primo da 2.2kΩ e il secondo da 4.7kΩ. Applicando il calcolo della tensione in uscita secondo la formula del partitore, il risultato è di circa 3.4V. Valore ottimale per il corretto funzionamento della comunicazione, poichè supera la tensione minima richiesta per riconoscere lo stato logico HIGH (circa 2.4V) e non costituisce alcun pericolo per la scheda ESP32.</a:t>
            </a: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5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Schema e funzionamento del circuito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124;p21" descr=""/>
          <p:cNvPicPr/>
          <p:nvPr/>
        </p:nvPicPr>
        <p:blipFill>
          <a:blip r:embed="rId1"/>
          <a:srcRect l="7145" t="0" r="2398" b="0"/>
          <a:stretch/>
        </p:blipFill>
        <p:spPr>
          <a:xfrm>
            <a:off x="4168080" y="2090160"/>
            <a:ext cx="4731840" cy="271044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42080" y="942480"/>
            <a:ext cx="3815640" cy="38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Modulo di ricezione dei dati con UART tramite GPIO 16/17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Il segnale attenuato dal partitore resistivo viene ricevuto dall’ ESP32 tramite i pin riservati alla comunicazione UART2.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Il Pin GPIO 16 (RX2) è dedicato alla ricezione dei dati, tramite il segnale a 3.4V proveniente dal Pin 11 (TX) di Arduino.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br>
              <a:rPr sz="1200"/>
            </a:b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Il Pin GPIO 17 (TX2) è dedicato alla comunicazione bidirezionale verso Arduino, che riceve i dati grazie 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al Pin 10 (RX).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In questo sistema, tuttavia, l'ESP32 opera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principalmente in ricezione, il flusso di dati è 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unidirezionale da Arduino ad ESP32.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auradetector.ino parte 1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31;p22"/>
          <p:cNvSpPr/>
          <p:nvPr/>
        </p:nvSpPr>
        <p:spPr>
          <a:xfrm>
            <a:off x="36360" y="1139760"/>
            <a:ext cx="4572720" cy="38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132;p22" descr=""/>
          <p:cNvPicPr/>
          <p:nvPr/>
        </p:nvPicPr>
        <p:blipFill>
          <a:blip r:embed="rId1"/>
          <a:stretch/>
        </p:blipFill>
        <p:spPr>
          <a:xfrm>
            <a:off x="0" y="1170000"/>
            <a:ext cx="4725000" cy="3337200"/>
          </a:xfrm>
          <a:prstGeom prst="rect">
            <a:avLst/>
          </a:prstGeom>
          <a:ln w="0">
            <a:noFill/>
          </a:ln>
        </p:spPr>
      </p:pic>
      <p:pic>
        <p:nvPicPr>
          <p:cNvPr id="73" name="Google Shape;133;p22" descr=""/>
          <p:cNvPicPr/>
          <p:nvPr/>
        </p:nvPicPr>
        <p:blipFill>
          <a:blip r:embed="rId2"/>
          <a:stretch/>
        </p:blipFill>
        <p:spPr>
          <a:xfrm>
            <a:off x="4726080" y="1170000"/>
            <a:ext cx="4417560" cy="33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auradetector.ino parte 2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Google Shape;139;p23" descr=""/>
          <p:cNvPicPr/>
          <p:nvPr/>
        </p:nvPicPr>
        <p:blipFill>
          <a:blip r:embed="rId1"/>
          <a:srcRect l="0" t="544" r="0" b="544"/>
          <a:stretch/>
        </p:blipFill>
        <p:spPr>
          <a:xfrm>
            <a:off x="0" y="1170000"/>
            <a:ext cx="4609440" cy="333720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40;p23" descr=""/>
          <p:cNvPicPr/>
          <p:nvPr/>
        </p:nvPicPr>
        <p:blipFill>
          <a:blip r:embed="rId2"/>
          <a:srcRect l="0" t="0" r="4752" b="0"/>
          <a:stretch/>
        </p:blipFill>
        <p:spPr>
          <a:xfrm>
            <a:off x="4610160" y="1170000"/>
            <a:ext cx="4533120" cy="33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main.py per ESP32 parte 1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Google Shape;146;p24" descr=""/>
          <p:cNvPicPr/>
          <p:nvPr/>
        </p:nvPicPr>
        <p:blipFill>
          <a:blip r:embed="rId1"/>
          <a:stretch/>
        </p:blipFill>
        <p:spPr>
          <a:xfrm>
            <a:off x="0" y="981000"/>
            <a:ext cx="4609440" cy="408096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47;p24" descr=""/>
          <p:cNvPicPr/>
          <p:nvPr/>
        </p:nvPicPr>
        <p:blipFill>
          <a:blip r:embed="rId2"/>
          <a:stretch/>
        </p:blipFill>
        <p:spPr>
          <a:xfrm>
            <a:off x="4610160" y="981000"/>
            <a:ext cx="4533480" cy="40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main.py per ESP32 parte 2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153;p25" descr=""/>
          <p:cNvPicPr/>
          <p:nvPr/>
        </p:nvPicPr>
        <p:blipFill>
          <a:blip r:embed="rId1"/>
          <a:stretch/>
        </p:blipFill>
        <p:spPr>
          <a:xfrm>
            <a:off x="826920" y="981720"/>
            <a:ext cx="3540240" cy="406260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54;p25" descr=""/>
          <p:cNvPicPr/>
          <p:nvPr/>
        </p:nvPicPr>
        <p:blipFill>
          <a:blip r:embed="rId2"/>
          <a:stretch/>
        </p:blipFill>
        <p:spPr>
          <a:xfrm>
            <a:off x="4367880" y="4236480"/>
            <a:ext cx="3606840" cy="80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auradetector.py GUI parte 1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Google Shape;160;p26" descr=""/>
          <p:cNvPicPr/>
          <p:nvPr/>
        </p:nvPicPr>
        <p:blipFill>
          <a:blip r:embed="rId1"/>
          <a:srcRect l="0" t="0" r="792" b="0"/>
          <a:stretch/>
        </p:blipFill>
        <p:spPr>
          <a:xfrm>
            <a:off x="0" y="942480"/>
            <a:ext cx="5215680" cy="411336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61;p26" descr=""/>
          <p:cNvPicPr/>
          <p:nvPr/>
        </p:nvPicPr>
        <p:blipFill>
          <a:blip r:embed="rId2"/>
          <a:stretch/>
        </p:blipFill>
        <p:spPr>
          <a:xfrm>
            <a:off x="5216400" y="942480"/>
            <a:ext cx="3926880" cy="411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auradetector.py GUI parte 2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167;p27" descr=""/>
          <p:cNvPicPr/>
          <p:nvPr/>
        </p:nvPicPr>
        <p:blipFill>
          <a:blip r:embed="rId1"/>
          <a:srcRect l="0" t="158" r="0" b="171"/>
          <a:stretch/>
        </p:blipFill>
        <p:spPr>
          <a:xfrm>
            <a:off x="0" y="942480"/>
            <a:ext cx="4650480" cy="411336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168;p27" descr=""/>
          <p:cNvPicPr/>
          <p:nvPr/>
        </p:nvPicPr>
        <p:blipFill>
          <a:blip r:embed="rId2"/>
          <a:srcRect l="0" t="0" r="1186" b="0"/>
          <a:stretch/>
        </p:blipFill>
        <p:spPr>
          <a:xfrm>
            <a:off x="4651200" y="942480"/>
            <a:ext cx="4492080" cy="411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auradetector.py GUI parte 3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Google Shape;174;p28" descr=""/>
          <p:cNvPicPr/>
          <p:nvPr/>
        </p:nvPicPr>
        <p:blipFill>
          <a:blip r:embed="rId1"/>
          <a:stretch/>
        </p:blipFill>
        <p:spPr>
          <a:xfrm>
            <a:off x="1289880" y="1479240"/>
            <a:ext cx="6563520" cy="269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Avvio e funzionamento del sistema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42080" y="1921320"/>
            <a:ext cx="8389800" cy="282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1)  Calibrazione ambientale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50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Una volta avviati gli script di Arduino (auradetector.ino)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ed ESP32 (main.py), il sistema avvia una procedura di Calibrazione ambientale. 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Arduino campiona il campo magnetico locale tramite il magnetometro GY-273, effettuando la media aritmetica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di 50 letture consecutive.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Inoltre, durante questa fase Arduino invia messaggi di stato all’ESP32 tramite UART, per informare l’utente.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900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Questa procedura è fondamentale al fine della lettura precisa delle perturbazioni magnetiche da parte del magnetometro GY-273.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81;p29"/>
          <p:cNvSpPr/>
          <p:nvPr/>
        </p:nvSpPr>
        <p:spPr>
          <a:xfrm>
            <a:off x="485280" y="970920"/>
            <a:ext cx="8282880" cy="10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Precondizioni di avvio: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50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Attivare il Bluetooth sul dispositivo da connettere all’ESP32 tramite BLE.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Collegare il connettore snap ai terminali della batteria da 9V. 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5e696c"/>
              </a:buClr>
              <a:buFont typeface="Lato"/>
              <a:buChar char="-"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Cablare il dispositivo alle schede Arduino ed ESP32 mediante gli appositi cavi USB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Avvio e funzionamento del sistema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64760" y="2739600"/>
            <a:ext cx="8324280" cy="20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3) Trasmissione dati verso ESP32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50000"/>
              </a:lnSpc>
              <a:buNone/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 dati fluiscono da Arduino all’ESP32 tramite una connessione seriale a 9600 baud.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L’ESP32 utilizza un task asincrono (uasyncio) per accumulare i byte in arrivo e ricostruire le stringhe di testo complete,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evitando la perdita di pacchetti.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 dati ricomposti vengono trasmessi tramite il servizio Nordic UART. L’ESP32 riceve via cavo i dati e li invia via etere ai dispositivi client connessi (PC) mediante protocollo BLE.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88;p30"/>
          <p:cNvSpPr/>
          <p:nvPr/>
        </p:nvSpPr>
        <p:spPr>
          <a:xfrm>
            <a:off x="464760" y="970920"/>
            <a:ext cx="8282880" cy="15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2) Rilevazione dei metalli e calcolo della perturbazione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50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Terminata la calibrazione il dispositivo entra in modalità operativa in cui il sensore induttivo monitora costantemente la presenza di oggetti metallici.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Quando il sensore induttivo rileva un metallo, Arduino interroga il magnetometro per leggere l’intensità del campo magnetico in quell’istante (calcolata come modulo vettoriale ).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 </a:t>
            </a: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Arduino calcola il valore assoluto della differenza tra il  valore del campo magnetico attuale e quello rilevato con la calibrazione ambientale.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Questo valore rappresenta la perturbazione magnetica causata dall’oggetto.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3200" spc="-1" strike="noStrike">
                <a:solidFill>
                  <a:schemeClr val="dk1"/>
                </a:solidFill>
                <a:latin typeface="Consolas"/>
                <a:ea typeface="Consolas"/>
              </a:rPr>
              <a:t>Avvio e funzionamento del sistema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94;p31"/>
          <p:cNvSpPr/>
          <p:nvPr/>
        </p:nvSpPr>
        <p:spPr>
          <a:xfrm>
            <a:off x="445320" y="955800"/>
            <a:ext cx="8282880" cy="37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4) Discriminazione e visualizzazione con GUI Python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50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L’app Python riceve i dati via Bluetooth e processa il segnale in tempo reale rappresentandolo mediante un’interfaccia grafica.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Il software confronta il valore con una soglia (50 unità).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Se il valore di perturbazione è inferiore, il metallo rilevato dal sensore induttivo viene ritenuto non ferroso, colorando di verde l’interfaccia, altrimenti viene ritenuto ferroso, colorando di rosso l’interfaccia.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Per la visualizzazione dei dati, il software utilizza una modellazione tramite distribuzione normale (Gaussiana).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Viene generata una curva di densità di probabilità centrata sul valore di perturbazione istantaneo, utilizzando una deviazione standard fissa (15 unità).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200" spc="-1" strike="noStrike" u="sng">
                <a:solidFill>
                  <a:schemeClr val="dk2"/>
                </a:solidFill>
                <a:uFillTx/>
                <a:latin typeface="Lato"/>
                <a:ea typeface="Lato"/>
              </a:rPr>
              <a:t>5) Chiusura del software e reboot automatico del sistema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50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Quando l’utente chiude l’applicazione sul PC, il driver Bluetooth invia un segnale di disconnessione, l’ESP32 rileva la fine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it" sz="1200" spc="-1" strike="noStrike">
                <a:solidFill>
                  <a:schemeClr val="dk2"/>
                </a:solidFill>
                <a:latin typeface="Lato"/>
                <a:ea typeface="Lato"/>
              </a:rPr>
              <a:t>della sessione e chiama un Hardware Reset in modo da riavviare l’hardware, pulire lo stack radio e riportare il dispositivo in modalità Advertising, pronto per collegarsi via Bluetooth ad un nuovo dispositivo senza interventi manuali.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9400" y="1423800"/>
            <a:ext cx="8124120" cy="17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4800" spc="-1" strike="noStrike">
                <a:solidFill>
                  <a:schemeClr val="lt1"/>
                </a:solidFill>
                <a:latin typeface="Lato"/>
                <a:ea typeface="Lato"/>
              </a:rPr>
              <a:t>Grazie per l’attenzione!</a:t>
            </a:r>
            <a:endParaRPr b="0" lang="it-IT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200;p32"/>
          <p:cNvSpPr/>
          <p:nvPr/>
        </p:nvSpPr>
        <p:spPr>
          <a:xfrm>
            <a:off x="5779080" y="4347000"/>
            <a:ext cx="32871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it" sz="1800" spc="-1" strike="noStrike">
                <a:solidFill>
                  <a:schemeClr val="lt1"/>
                </a:solidFill>
                <a:latin typeface="Lato"/>
                <a:ea typeface="Lato"/>
              </a:rPr>
              <a:t>Marco Melegatti ~ VR502471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it" sz="1800" spc="-1" strike="noStrike">
                <a:solidFill>
                  <a:schemeClr val="lt1"/>
                </a:solidFill>
                <a:latin typeface="Lato"/>
                <a:ea typeface="Lato"/>
              </a:rPr>
              <a:t>Luca Belloni ~ VR503921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2026-01-15T22:23:37Z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