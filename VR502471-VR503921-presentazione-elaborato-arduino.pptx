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_rels/slide5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6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_rels/slide17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_rels/presentation.xml.rels" ContentType="application/vnd.openxmlformats-package.relationships+xml"/>
  <Override PartName="/ppt/media/image12.png" ContentType="image/png"/>
  <Override PartName="/ppt/media/image8.png" ContentType="image/png"/>
  <Override PartName="/ppt/media/image17.png" ContentType="image/png"/>
  <Override PartName="/ppt/media/image11.png" ContentType="image/png"/>
  <Override PartName="/ppt/media/image7.png" ContentType="image/png"/>
  <Override PartName="/ppt/media/image16.png" ContentType="image/png"/>
  <Override PartName="/ppt/media/image13.png" ContentType="image/png"/>
  <Override PartName="/ppt/media/image19.png" ContentType="image/png"/>
  <Override PartName="/ppt/media/image1.jpeg" ContentType="image/jpeg"/>
  <Override PartName="/ppt/media/image2.jpeg" ContentType="image/jpeg"/>
  <Override PartName="/ppt/media/image3.jpeg" ContentType="image/jpeg"/>
  <Override PartName="/ppt/media/image15.png" ContentType="image/png"/>
  <Override PartName="/ppt/media/image4.jpeg" ContentType="image/jpeg"/>
  <Override PartName="/ppt/media/image14.png" ContentType="image/png"/>
  <Override PartName="/ppt/media/image5.png" ContentType="image/png"/>
  <Override PartName="/ppt/media/image10.png" ContentType="image/png"/>
  <Override PartName="/ppt/media/image6.jpeg" ContentType="image/jpeg"/>
  <Override PartName="/ppt/media/image20.png" ContentType="image/png"/>
  <Override PartName="/ppt/media/image9.png" ContentType="image/png"/>
  <Override PartName="/ppt/media/image18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9400" y="1423800"/>
            <a:ext cx="8124480" cy="179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it-I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it-IT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18217AB3-FD05-4ADD-B7D4-382D375DB716}" type="slidenum">
              <a:t>&lt;#&gt;</a:t>
            </a:fld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IG_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F5E1A62-CDA3-4F51-BE69-417E082D9F9B}" type="slidenum">
              <a:t>&lt;#&gt;</a:t>
            </a:fld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BBDAB69-77E5-4927-A144-CDBD05295133}" type="slidenum">
              <a:t>&lt;#&gt;</a:t>
            </a:fld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1967C11B-22A3-4CD7-83B8-EFD21EA9D758}" type="slidenum">
              <a:t>&lt;#&gt;</a:t>
            </a:fld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509400" y="1423800"/>
            <a:ext cx="8124480" cy="179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it-I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it-I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BB06167-C832-4B6B-B1DD-42549DE9C599}" type="slidenum">
              <a:t>&lt;#&gt;</a:t>
            </a:fld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_AND_TWO_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509400" y="1423800"/>
            <a:ext cx="8124480" cy="179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it-I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it-I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it-I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93B72C76-1361-4C3E-A282-9E65F293EBC9}" type="slidenum">
              <a:t>&lt;#&gt;</a:t>
            </a:fld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509400" y="1423800"/>
            <a:ext cx="8124480" cy="179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it-I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7"/>
          </p:nvPr>
        </p:nvSpPr>
        <p:spPr/>
        <p:txBody>
          <a:bodyPr/>
          <a:p>
            <a:fld id="{C5BC0A15-AB4E-4638-AA63-3CF819C29728}" type="slidenum">
              <a:t>&lt;#&gt;</a:t>
            </a:fld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NE_COLUM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3A45021-6E6B-41A1-B2C5-AF043C18091F}" type="slidenum">
              <a:t>&lt;#&gt;</a:t>
            </a:fld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IN_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167AC35B-0F88-4AEB-85F8-4F3C8CA6258F}" type="slidenum">
              <a:t>&lt;#&gt;</a:t>
            </a:fld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TITLE_AND_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AFB805BD-EA22-4584-81BF-92ED0A5A0D24}" type="slidenum">
              <a:t>&lt;#&gt;</a:t>
            </a:fld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APTION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15B3DFA5-5AC7-4B63-BA3B-4A27D3A5CAA5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Google Shape;10;p2"/>
          <p:cNvSpPr/>
          <p:nvPr/>
        </p:nvSpPr>
        <p:spPr>
          <a:xfrm>
            <a:off x="2748960" y="748800"/>
            <a:ext cx="3645720" cy="3645720"/>
          </a:xfrm>
          <a:prstGeom prst="rect">
            <a:avLst/>
          </a:prstGeom>
          <a:solidFill>
            <a:schemeClr val="dk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it-IT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" name="Google Shape;11;p2"/>
          <p:cNvSpPr/>
          <p:nvPr/>
        </p:nvSpPr>
        <p:spPr>
          <a:xfrm>
            <a:off x="2993040" y="992880"/>
            <a:ext cx="3157920" cy="3157920"/>
          </a:xfrm>
          <a:prstGeom prst="rect">
            <a:avLst/>
          </a:prstGeom>
          <a:noFill/>
          <a:ln w="28575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it-I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3096360" y="1627200"/>
            <a:ext cx="2950920" cy="1584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 fontScale="77804" lnSpcReduction="10000"/>
          </a:bodyPr>
          <a:p>
            <a:pPr indent="0">
              <a:buNone/>
            </a:pPr>
            <a:r>
              <a:rPr b="0" lang="it-IT" sz="3200" spc="-1" strike="noStrike">
                <a:solidFill>
                  <a:srgbClr val="000000"/>
                </a:solidFill>
                <a:latin typeface="Arial"/>
              </a:rPr>
              <a:t>Fai clic per modificare il formato del testo del titolo</a:t>
            </a:r>
            <a:endParaRPr b="0" lang="it-IT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>
          <a:xfrm>
            <a:off x="8490240" y="4681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it" sz="1000" spc="-1" strike="noStrike">
                <a:solidFill>
                  <a:schemeClr val="dk2"/>
                </a:solidFill>
                <a:latin typeface="Lato"/>
                <a:ea typeface="La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08FD8CB-4FF1-4E5E-A9FB-9DEAB226B500}" type="slidenum">
              <a:rPr b="0" lang="it" sz="1000" spc="-1" strike="noStrike">
                <a:solidFill>
                  <a:schemeClr val="dk2"/>
                </a:solidFill>
                <a:latin typeface="Lato"/>
                <a:ea typeface="Lato"/>
              </a:rPr>
              <a:t>&lt;numero&gt;</a:t>
            </a:fld>
            <a:endParaRPr b="0" lang="it-IT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400" spc="-1" strike="noStrike">
                <a:solidFill>
                  <a:srgbClr val="000000"/>
                </a:solidFill>
                <a:latin typeface="Arial"/>
              </a:rPr>
              <a:t>Fai clic per modificare il formato del testo della struttura</a:t>
            </a:r>
            <a:endParaRPr b="0" lang="it-IT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it-IT" sz="1400" spc="-1" strike="noStrike">
                <a:solidFill>
                  <a:srgbClr val="000000"/>
                </a:solidFill>
                <a:latin typeface="Arial"/>
              </a:rPr>
              <a:t>Secondo livello struttura</a:t>
            </a:r>
            <a:endParaRPr b="0" lang="it-IT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400" spc="-1" strike="noStrike">
                <a:solidFill>
                  <a:srgbClr val="000000"/>
                </a:solidFill>
                <a:latin typeface="Arial"/>
              </a:rPr>
              <a:t>Terzo livello struttura</a:t>
            </a:r>
            <a:endParaRPr b="0" lang="it-IT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it-IT" sz="1400" spc="-1" strike="noStrike">
                <a:solidFill>
                  <a:srgbClr val="000000"/>
                </a:solidFill>
                <a:latin typeface="Arial"/>
              </a:rPr>
              <a:t>Quarto livello struttura</a:t>
            </a:r>
            <a:endParaRPr b="0" lang="it-IT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2000" spc="-1" strike="noStrike">
                <a:solidFill>
                  <a:srgbClr val="000000"/>
                </a:solidFill>
                <a:latin typeface="Arial"/>
              </a:rPr>
              <a:t>Quinto livello struttura</a:t>
            </a:r>
            <a:endParaRPr b="0" lang="it-IT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2000" spc="-1" strike="noStrike">
                <a:solidFill>
                  <a:srgbClr val="000000"/>
                </a:solidFill>
                <a:latin typeface="Arial"/>
              </a:rPr>
              <a:t>Sesto livello struttura</a:t>
            </a:r>
            <a:endParaRPr b="0" lang="it-IT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2000" spc="-1" strike="noStrike">
                <a:solidFill>
                  <a:srgbClr val="000000"/>
                </a:solidFill>
                <a:latin typeface="Arial"/>
              </a:rPr>
              <a:t>Settimo livello struttura</a:t>
            </a:r>
            <a:endParaRPr b="0" lang="it-IT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49;p11"/>
          <p:cNvSpPr/>
          <p:nvPr/>
        </p:nvSpPr>
        <p:spPr>
          <a:xfrm>
            <a:off x="0" y="5045760"/>
            <a:ext cx="9143640" cy="97560"/>
          </a:xfrm>
          <a:prstGeom prst="rect">
            <a:avLst/>
          </a:prstGeom>
          <a:solidFill>
            <a:schemeClr val="dk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48960" bIns="4896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it-IT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311760" y="1233000"/>
            <a:ext cx="8520120" cy="160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rmAutofit fontScale="93694"/>
          </a:bodyPr>
          <a:p>
            <a:pPr indent="0" algn="ctr">
              <a:lnSpc>
                <a:spcPct val="100000"/>
              </a:lnSpc>
              <a:buNone/>
            </a:pPr>
            <a:r>
              <a:rPr b="1" lang="it-IT" sz="10000" spc="-1" strike="noStrike">
                <a:solidFill>
                  <a:schemeClr val="dk1"/>
                </a:solidFill>
                <a:latin typeface="Lato"/>
                <a:ea typeface="Lato"/>
              </a:rPr>
              <a:t>xx%</a:t>
            </a:r>
            <a:endParaRPr b="0" lang="it-IT" sz="10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311760" y="2919600"/>
            <a:ext cx="8520120" cy="107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25000" lnSpcReduction="1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pc="-1" strike="noStrike">
                <a:solidFill>
                  <a:srgbClr val="000000"/>
                </a:solidFill>
                <a:latin typeface="Arial"/>
              </a:rPr>
              <a:t>Fai clic per modificare il formato del testo della struttura</a:t>
            </a:r>
            <a:endParaRPr b="0" lang="it-IT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it-IT" sz="1800" spc="-1" strike="noStrike">
                <a:solidFill>
                  <a:srgbClr val="000000"/>
                </a:solidFill>
                <a:latin typeface="Arial"/>
              </a:rPr>
              <a:t>Secondo livello struttura</a:t>
            </a:r>
            <a:endParaRPr b="0" lang="it-IT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pc="-1" strike="noStrike">
                <a:solidFill>
                  <a:srgbClr val="000000"/>
                </a:solidFill>
                <a:latin typeface="Arial"/>
              </a:rPr>
              <a:t>Terzo livello struttura</a:t>
            </a:r>
            <a:endParaRPr b="0" lang="it-IT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it-IT" sz="1800" spc="-1" strike="noStrike">
                <a:solidFill>
                  <a:srgbClr val="000000"/>
                </a:solidFill>
                <a:latin typeface="Arial"/>
              </a:rPr>
              <a:t>Quarto livello struttura</a:t>
            </a:r>
            <a:endParaRPr b="0" lang="it-IT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pc="-1" strike="noStrike">
                <a:solidFill>
                  <a:srgbClr val="000000"/>
                </a:solidFill>
                <a:latin typeface="Arial"/>
              </a:rPr>
              <a:t>Quinto livello struttura</a:t>
            </a:r>
            <a:endParaRPr b="0" lang="it-IT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pc="-1" strike="noStrike">
                <a:solidFill>
                  <a:srgbClr val="000000"/>
                </a:solidFill>
                <a:latin typeface="Arial"/>
              </a:rPr>
              <a:t>Sesto livello struttura</a:t>
            </a:r>
            <a:endParaRPr b="0" lang="it-IT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pc="-1" strike="noStrike">
                <a:solidFill>
                  <a:srgbClr val="000000"/>
                </a:solidFill>
                <a:latin typeface="Arial"/>
              </a:rPr>
              <a:t>Settimo livello struttura</a:t>
            </a:r>
            <a:endParaRPr b="0" lang="it-I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sldNum" idx="2"/>
          </p:nvPr>
        </p:nvSpPr>
        <p:spPr>
          <a:xfrm>
            <a:off x="8490240" y="4681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it" sz="1000" spc="-1" strike="noStrike">
                <a:solidFill>
                  <a:schemeClr val="dk2"/>
                </a:solidFill>
                <a:latin typeface="Lato"/>
                <a:ea typeface="La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D4EA8FF-C31B-4F69-821C-16FB95F84BAE}" type="slidenum">
              <a:rPr b="0" lang="it" sz="1000" spc="-1" strike="noStrike">
                <a:solidFill>
                  <a:schemeClr val="dk2"/>
                </a:solidFill>
                <a:latin typeface="Lato"/>
                <a:ea typeface="Lato"/>
              </a:rPr>
              <a:t>&lt;numero&gt;</a:t>
            </a:fld>
            <a:endParaRPr b="0" lang="it-IT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sldNum" idx="3"/>
          </p:nvPr>
        </p:nvSpPr>
        <p:spPr>
          <a:xfrm>
            <a:off x="8490240" y="4681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it" sz="1000" spc="-1" strike="noStrike">
                <a:solidFill>
                  <a:schemeClr val="dk2"/>
                </a:solidFill>
                <a:latin typeface="Lato"/>
                <a:ea typeface="La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98A0AC7-5F70-48F5-85BD-3DE9ADC2007E}" type="slidenum">
              <a:rPr b="0" lang="it" sz="1000" spc="-1" strike="noStrike">
                <a:solidFill>
                  <a:schemeClr val="dk2"/>
                </a:solidFill>
                <a:latin typeface="Lato"/>
                <a:ea typeface="Lato"/>
              </a:rPr>
              <a:t>&lt;numero&gt;</a:t>
            </a:fld>
            <a:endParaRPr b="0" lang="it-IT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dk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9400" y="1423800"/>
            <a:ext cx="8124480" cy="179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p>
            <a:pPr indent="0">
              <a:buNone/>
            </a:pPr>
            <a:r>
              <a:rPr b="0" lang="it-IT" sz="4800" spc="-1" strike="noStrike">
                <a:solidFill>
                  <a:srgbClr val="000000"/>
                </a:solidFill>
                <a:latin typeface="Arial"/>
              </a:rPr>
              <a:t>Fai clic per modificare il formato del testo del titolo</a:t>
            </a:r>
            <a:endParaRPr b="0" lang="it-IT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sldNum" idx="4"/>
          </p:nvPr>
        </p:nvSpPr>
        <p:spPr>
          <a:xfrm>
            <a:off x="8490240" y="4681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it" sz="1000" spc="-1" strike="noStrike">
                <a:solidFill>
                  <a:schemeClr val="lt1"/>
                </a:solidFill>
                <a:latin typeface="Lato"/>
                <a:ea typeface="La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EF54BED-3860-4687-A53D-A8F9FD1EC3B1}" type="slidenum">
              <a:rPr b="0" lang="it" sz="1000" spc="-1" strike="noStrike">
                <a:solidFill>
                  <a:schemeClr val="lt1"/>
                </a:solidFill>
                <a:latin typeface="Lato"/>
                <a:ea typeface="Lato"/>
              </a:rPr>
              <a:t>&lt;numero&gt;</a:t>
            </a:fld>
            <a:endParaRPr b="0" lang="it-IT" sz="10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it-IT" sz="1400" spc="-1" strike="noStrike">
                <a:solidFill>
                  <a:srgbClr val="000000"/>
                </a:solidFill>
                <a:latin typeface="Arial"/>
              </a:rPr>
              <a:t>Fai clic per modificare il formato del testo della struttura</a:t>
            </a:r>
            <a:endParaRPr b="0" lang="it-IT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it-IT" sz="1400" spc="-1" strike="noStrike">
                <a:solidFill>
                  <a:srgbClr val="000000"/>
                </a:solidFill>
                <a:latin typeface="Arial"/>
              </a:rPr>
              <a:t>Secondo livello struttura</a:t>
            </a:r>
            <a:endParaRPr b="0" lang="it-IT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it-IT" sz="1400" spc="-1" strike="noStrike">
                <a:solidFill>
                  <a:srgbClr val="000000"/>
                </a:solidFill>
                <a:latin typeface="Arial"/>
              </a:rPr>
              <a:t>Terzo livello struttura</a:t>
            </a:r>
            <a:endParaRPr b="0" lang="it-IT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it-IT" sz="1400" spc="-1" strike="noStrike">
                <a:solidFill>
                  <a:srgbClr val="000000"/>
                </a:solidFill>
                <a:latin typeface="Arial"/>
              </a:rPr>
              <a:t>Quarto livello struttura</a:t>
            </a:r>
            <a:endParaRPr b="0" lang="it-IT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it-IT" sz="2000" spc="-1" strike="noStrike">
                <a:solidFill>
                  <a:srgbClr val="000000"/>
                </a:solidFill>
                <a:latin typeface="Arial"/>
              </a:rPr>
              <a:t>Quinto livello struttura</a:t>
            </a:r>
            <a:endParaRPr b="0" lang="it-IT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it-IT" sz="2000" spc="-1" strike="noStrike">
                <a:solidFill>
                  <a:srgbClr val="000000"/>
                </a:solidFill>
                <a:latin typeface="Arial"/>
              </a:rPr>
              <a:t>Sesto livello struttura</a:t>
            </a:r>
            <a:endParaRPr b="0" lang="it-IT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it-IT" sz="2000" spc="-1" strike="noStrike">
                <a:solidFill>
                  <a:srgbClr val="000000"/>
                </a:solidFill>
                <a:latin typeface="Arial"/>
              </a:rPr>
              <a:t>Settimo livello struttura</a:t>
            </a:r>
            <a:endParaRPr b="0" lang="it-IT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9;p4"/>
          <p:cNvSpPr/>
          <p:nvPr/>
        </p:nvSpPr>
        <p:spPr>
          <a:xfrm>
            <a:off x="0" y="5045760"/>
            <a:ext cx="9143640" cy="97560"/>
          </a:xfrm>
          <a:prstGeom prst="rect">
            <a:avLst/>
          </a:prstGeom>
          <a:solidFill>
            <a:schemeClr val="dk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48960" bIns="4896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it-IT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20120" cy="62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0616"/>
          </a:bodyPr>
          <a:p>
            <a:pPr indent="0">
              <a:buNone/>
            </a:pPr>
            <a:r>
              <a:rPr b="0" lang="it-IT" sz="3200" spc="-1" strike="noStrike">
                <a:solidFill>
                  <a:srgbClr val="000000"/>
                </a:solidFill>
                <a:latin typeface="Arial"/>
              </a:rPr>
              <a:t>Fai clic per modificare il formato del testo del titolo</a:t>
            </a:r>
            <a:endParaRPr b="0" lang="it-IT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8520120" cy="341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pc="-1" strike="noStrike">
                <a:solidFill>
                  <a:srgbClr val="000000"/>
                </a:solidFill>
                <a:latin typeface="Arial"/>
              </a:rPr>
              <a:t>Fai clic per modificare il formato del testo della struttura</a:t>
            </a:r>
            <a:endParaRPr b="0" lang="it-IT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it-IT" sz="1800" spc="-1" strike="noStrike">
                <a:solidFill>
                  <a:srgbClr val="000000"/>
                </a:solidFill>
                <a:latin typeface="Arial"/>
              </a:rPr>
              <a:t>Secondo livello struttura</a:t>
            </a:r>
            <a:endParaRPr b="0" lang="it-IT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pc="-1" strike="noStrike">
                <a:solidFill>
                  <a:srgbClr val="000000"/>
                </a:solidFill>
                <a:latin typeface="Arial"/>
              </a:rPr>
              <a:t>Terzo livello struttura</a:t>
            </a:r>
            <a:endParaRPr b="0" lang="it-IT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it-IT" sz="1800" spc="-1" strike="noStrike">
                <a:solidFill>
                  <a:srgbClr val="000000"/>
                </a:solidFill>
                <a:latin typeface="Arial"/>
              </a:rPr>
              <a:t>Quarto livello struttura</a:t>
            </a:r>
            <a:endParaRPr b="0" lang="it-IT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pc="-1" strike="noStrike">
                <a:solidFill>
                  <a:srgbClr val="000000"/>
                </a:solidFill>
                <a:latin typeface="Arial"/>
              </a:rPr>
              <a:t>Quinto livello struttura</a:t>
            </a:r>
            <a:endParaRPr b="0" lang="it-IT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pc="-1" strike="noStrike">
                <a:solidFill>
                  <a:srgbClr val="000000"/>
                </a:solidFill>
                <a:latin typeface="Arial"/>
              </a:rPr>
              <a:t>Sesto livello struttura</a:t>
            </a:r>
            <a:endParaRPr b="0" lang="it-IT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pc="-1" strike="noStrike">
                <a:solidFill>
                  <a:srgbClr val="000000"/>
                </a:solidFill>
                <a:latin typeface="Arial"/>
              </a:rPr>
              <a:t>Settimo livello struttura</a:t>
            </a:r>
            <a:endParaRPr b="0" lang="it-I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sldNum" idx="5"/>
          </p:nvPr>
        </p:nvSpPr>
        <p:spPr>
          <a:xfrm>
            <a:off x="8490240" y="4681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it" sz="1000" spc="-1" strike="noStrike">
                <a:solidFill>
                  <a:schemeClr val="dk2"/>
                </a:solidFill>
                <a:latin typeface="Lato"/>
                <a:ea typeface="La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EA76206-9F1A-44B0-BB4F-756DDA73D832}" type="slidenum">
              <a:rPr b="0" lang="it" sz="1000" spc="-1" strike="noStrike">
                <a:solidFill>
                  <a:schemeClr val="dk2"/>
                </a:solidFill>
                <a:latin typeface="Lato"/>
                <a:ea typeface="Lato"/>
              </a:rPr>
              <a:t>&lt;numero&gt;</a:t>
            </a:fld>
            <a:endParaRPr b="0" lang="it-IT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20120" cy="62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0616"/>
          </a:bodyPr>
          <a:p>
            <a:pPr indent="0">
              <a:buNone/>
            </a:pPr>
            <a:r>
              <a:rPr b="0" lang="it-IT" sz="3200" spc="-1" strike="noStrike">
                <a:solidFill>
                  <a:srgbClr val="000000"/>
                </a:solidFill>
                <a:latin typeface="Arial"/>
              </a:rPr>
              <a:t>Fai clic per modificare il formato del testo del titolo</a:t>
            </a:r>
            <a:endParaRPr b="0" lang="it-IT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3999600" cy="341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400" spc="-1" strike="noStrike">
                <a:solidFill>
                  <a:srgbClr val="000000"/>
                </a:solidFill>
                <a:latin typeface="Arial"/>
              </a:rPr>
              <a:t>Fai clic per modificare il formato del testo della struttura</a:t>
            </a:r>
            <a:endParaRPr b="0" lang="it-IT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it-IT" sz="1400" spc="-1" strike="noStrike">
                <a:solidFill>
                  <a:srgbClr val="000000"/>
                </a:solidFill>
                <a:latin typeface="Arial"/>
              </a:rPr>
              <a:t>Secondo livello struttura</a:t>
            </a:r>
            <a:endParaRPr b="0" lang="it-IT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400" spc="-1" strike="noStrike">
                <a:solidFill>
                  <a:srgbClr val="000000"/>
                </a:solidFill>
                <a:latin typeface="Arial"/>
              </a:rPr>
              <a:t>Terzo livello struttura</a:t>
            </a:r>
            <a:endParaRPr b="0" lang="it-IT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it-IT" sz="1400" spc="-1" strike="noStrike">
                <a:solidFill>
                  <a:srgbClr val="000000"/>
                </a:solidFill>
                <a:latin typeface="Arial"/>
              </a:rPr>
              <a:t>Quarto livello struttura</a:t>
            </a:r>
            <a:endParaRPr b="0" lang="it-IT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400" spc="-1" strike="noStrike">
                <a:solidFill>
                  <a:srgbClr val="000000"/>
                </a:solidFill>
                <a:latin typeface="Arial"/>
              </a:rPr>
              <a:t>Quinto livello struttura</a:t>
            </a:r>
            <a:endParaRPr b="0" lang="it-IT" sz="14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400" spc="-1" strike="noStrike">
                <a:solidFill>
                  <a:srgbClr val="000000"/>
                </a:solidFill>
                <a:latin typeface="Arial"/>
              </a:rPr>
              <a:t>Sesto livello struttura</a:t>
            </a:r>
            <a:endParaRPr b="0" lang="it-IT" sz="14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400" spc="-1" strike="noStrike">
                <a:solidFill>
                  <a:srgbClr val="000000"/>
                </a:solidFill>
                <a:latin typeface="Arial"/>
              </a:rPr>
              <a:t>Settimo livello struttura</a:t>
            </a:r>
            <a:endParaRPr b="0" lang="it-I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body"/>
          </p:nvPr>
        </p:nvSpPr>
        <p:spPr>
          <a:xfrm>
            <a:off x="4832280" y="1152360"/>
            <a:ext cx="3999600" cy="341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400" spc="-1" strike="noStrike">
                <a:solidFill>
                  <a:srgbClr val="000000"/>
                </a:solidFill>
                <a:latin typeface="Arial"/>
              </a:rPr>
              <a:t>Fai clic per modificare il formato del testo della struttura</a:t>
            </a:r>
            <a:endParaRPr b="0" lang="it-IT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it-IT" sz="1400" spc="-1" strike="noStrike">
                <a:solidFill>
                  <a:srgbClr val="000000"/>
                </a:solidFill>
                <a:latin typeface="Arial"/>
              </a:rPr>
              <a:t>Secondo livello struttura</a:t>
            </a:r>
            <a:endParaRPr b="0" lang="it-IT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400" spc="-1" strike="noStrike">
                <a:solidFill>
                  <a:srgbClr val="000000"/>
                </a:solidFill>
                <a:latin typeface="Arial"/>
              </a:rPr>
              <a:t>Terzo livello struttura</a:t>
            </a:r>
            <a:endParaRPr b="0" lang="it-IT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it-IT" sz="1400" spc="-1" strike="noStrike">
                <a:solidFill>
                  <a:srgbClr val="000000"/>
                </a:solidFill>
                <a:latin typeface="Arial"/>
              </a:rPr>
              <a:t>Quarto livello struttura</a:t>
            </a:r>
            <a:endParaRPr b="0" lang="it-IT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400" spc="-1" strike="noStrike">
                <a:solidFill>
                  <a:srgbClr val="000000"/>
                </a:solidFill>
                <a:latin typeface="Arial"/>
              </a:rPr>
              <a:t>Quinto livello struttura</a:t>
            </a:r>
            <a:endParaRPr b="0" lang="it-IT" sz="14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400" spc="-1" strike="noStrike">
                <a:solidFill>
                  <a:srgbClr val="000000"/>
                </a:solidFill>
                <a:latin typeface="Arial"/>
              </a:rPr>
              <a:t>Sesto livello struttura</a:t>
            </a:r>
            <a:endParaRPr b="0" lang="it-IT" sz="14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400" spc="-1" strike="noStrike">
                <a:solidFill>
                  <a:srgbClr val="000000"/>
                </a:solidFill>
                <a:latin typeface="Arial"/>
              </a:rPr>
              <a:t>Settimo livello struttura</a:t>
            </a:r>
            <a:endParaRPr b="0" lang="it-IT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6"/>
          </p:nvPr>
        </p:nvSpPr>
        <p:spPr>
          <a:xfrm>
            <a:off x="8490240" y="4681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it" sz="1000" spc="-1" strike="noStrike">
                <a:solidFill>
                  <a:schemeClr val="dk2"/>
                </a:solidFill>
                <a:latin typeface="Lato"/>
                <a:ea typeface="La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1EFC91D-7C62-4161-904D-2FE0F1C2184B}" type="slidenum">
              <a:rPr b="0" lang="it" sz="1000" spc="-1" strike="noStrike">
                <a:solidFill>
                  <a:schemeClr val="dk2"/>
                </a:solidFill>
                <a:latin typeface="Lato"/>
                <a:ea typeface="Lato"/>
              </a:rPr>
              <a:t>&lt;numero&gt;</a:t>
            </a:fld>
            <a:endParaRPr b="0" lang="it-IT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20120" cy="62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0616"/>
          </a:bodyPr>
          <a:p>
            <a:pPr indent="0">
              <a:buNone/>
            </a:pPr>
            <a:r>
              <a:rPr b="0" lang="it-IT" sz="3200" spc="-1" strike="noStrike">
                <a:solidFill>
                  <a:srgbClr val="000000"/>
                </a:solidFill>
                <a:latin typeface="Arial"/>
              </a:rPr>
              <a:t>Fai clic per modificare il formato del testo del titolo</a:t>
            </a:r>
            <a:endParaRPr b="0" lang="it-IT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sldNum" idx="7"/>
          </p:nvPr>
        </p:nvSpPr>
        <p:spPr>
          <a:xfrm>
            <a:off x="8490240" y="4681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it" sz="1000" spc="-1" strike="noStrike">
                <a:solidFill>
                  <a:schemeClr val="dk2"/>
                </a:solidFill>
                <a:latin typeface="Lato"/>
                <a:ea typeface="La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880ED6E-87F6-4C83-A7EB-C3C91382C771}" type="slidenum">
              <a:rPr b="0" lang="it" sz="1000" spc="-1" strike="noStrike">
                <a:solidFill>
                  <a:schemeClr val="dk2"/>
                </a:solidFill>
                <a:latin typeface="Lato"/>
                <a:ea typeface="Lato"/>
              </a:rPr>
              <a:t>&lt;numero&gt;</a:t>
            </a:fld>
            <a:endParaRPr b="0" lang="it-IT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311760" y="555480"/>
            <a:ext cx="2807640" cy="755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rmAutofit fontScale="74970"/>
          </a:bodyPr>
          <a:p>
            <a:pPr indent="0">
              <a:buNone/>
            </a:pPr>
            <a:r>
              <a:rPr b="0" lang="it-IT" sz="2400" spc="-1" strike="noStrike">
                <a:solidFill>
                  <a:srgbClr val="000000"/>
                </a:solidFill>
                <a:latin typeface="Arial"/>
              </a:rPr>
              <a:t>Fai clic per modificare il formato del testo del titolo</a:t>
            </a:r>
            <a:endParaRPr b="0" lang="it-IT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311760" y="1391400"/>
            <a:ext cx="2807640" cy="3179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35861" lnSpcReduction="2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200" spc="-1" strike="noStrike">
                <a:solidFill>
                  <a:srgbClr val="000000"/>
                </a:solidFill>
                <a:latin typeface="Arial"/>
              </a:rPr>
              <a:t>Fai clic per modificare il formato del testo della struttura</a:t>
            </a:r>
            <a:endParaRPr b="0" lang="it-IT" sz="1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it-IT" sz="1200" spc="-1" strike="noStrike">
                <a:solidFill>
                  <a:srgbClr val="000000"/>
                </a:solidFill>
                <a:latin typeface="Arial"/>
              </a:rPr>
              <a:t>Secondo livello struttura</a:t>
            </a:r>
            <a:endParaRPr b="0" lang="it-IT" sz="1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200" spc="-1" strike="noStrike">
                <a:solidFill>
                  <a:srgbClr val="000000"/>
                </a:solidFill>
                <a:latin typeface="Arial"/>
              </a:rPr>
              <a:t>Terzo livello struttura</a:t>
            </a:r>
            <a:endParaRPr b="0" lang="it-IT" sz="12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it-IT" sz="1200" spc="-1" strike="noStrike">
                <a:solidFill>
                  <a:srgbClr val="000000"/>
                </a:solidFill>
                <a:latin typeface="Arial"/>
              </a:rPr>
              <a:t>Quarto livello struttura</a:t>
            </a:r>
            <a:endParaRPr b="0" lang="it-IT" sz="12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200" spc="-1" strike="noStrike">
                <a:solidFill>
                  <a:srgbClr val="000000"/>
                </a:solidFill>
                <a:latin typeface="Arial"/>
              </a:rPr>
              <a:t>Quinto livello struttura</a:t>
            </a:r>
            <a:endParaRPr b="0" lang="it-IT" sz="12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200" spc="-1" strike="noStrike">
                <a:solidFill>
                  <a:srgbClr val="000000"/>
                </a:solidFill>
                <a:latin typeface="Arial"/>
              </a:rPr>
              <a:t>Sesto livello struttura</a:t>
            </a:r>
            <a:endParaRPr b="0" lang="it-IT" sz="12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200" spc="-1" strike="noStrike">
                <a:solidFill>
                  <a:srgbClr val="000000"/>
                </a:solidFill>
                <a:latin typeface="Arial"/>
              </a:rPr>
              <a:t>Settimo livello struttura</a:t>
            </a:r>
            <a:endParaRPr b="0" lang="it-IT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sldNum" idx="8"/>
          </p:nvPr>
        </p:nvSpPr>
        <p:spPr>
          <a:xfrm>
            <a:off x="8490240" y="4681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it" sz="1000" spc="-1" strike="noStrike">
                <a:solidFill>
                  <a:schemeClr val="dk2"/>
                </a:solidFill>
                <a:latin typeface="Lato"/>
                <a:ea typeface="La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7B7F0AE-26B3-48CD-98F2-533DDA13610A}" type="slidenum">
              <a:rPr b="0" lang="it" sz="1000" spc="-1" strike="noStrike">
                <a:solidFill>
                  <a:schemeClr val="dk2"/>
                </a:solidFill>
                <a:latin typeface="Lato"/>
                <a:ea typeface="Lato"/>
              </a:rPr>
              <a:t>&lt;numero&gt;</a:t>
            </a:fld>
            <a:endParaRPr b="0" lang="it-IT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dk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90320" y="526320"/>
            <a:ext cx="5618520" cy="409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p>
            <a:pPr indent="0">
              <a:buNone/>
            </a:pPr>
            <a:r>
              <a:rPr b="0" lang="it-IT" sz="4800" spc="-1" strike="noStrike">
                <a:solidFill>
                  <a:srgbClr val="000000"/>
                </a:solidFill>
                <a:latin typeface="Arial"/>
              </a:rPr>
              <a:t>Fai clic per modificare il formato del testo del titolo</a:t>
            </a:r>
            <a:endParaRPr b="0" lang="it-IT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sldNum" idx="9"/>
          </p:nvPr>
        </p:nvSpPr>
        <p:spPr>
          <a:xfrm>
            <a:off x="8490240" y="4681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it" sz="1000" spc="-1" strike="noStrike">
                <a:solidFill>
                  <a:schemeClr val="lt1"/>
                </a:solidFill>
                <a:latin typeface="Lato"/>
                <a:ea typeface="La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9B02B77-5FAE-4183-B27B-B0AE441877F1}" type="slidenum">
              <a:rPr b="0" lang="it" sz="1000" spc="-1" strike="noStrike">
                <a:solidFill>
                  <a:schemeClr val="lt1"/>
                </a:solidFill>
                <a:latin typeface="Lato"/>
                <a:ea typeface="Lato"/>
              </a:rPr>
              <a:t>&lt;numero&gt;</a:t>
            </a:fld>
            <a:endParaRPr b="0" lang="it-IT" sz="10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9;p9"/>
          <p:cNvSpPr/>
          <p:nvPr/>
        </p:nvSpPr>
        <p:spPr>
          <a:xfrm>
            <a:off x="4572000" y="0"/>
            <a:ext cx="4571640" cy="5143320"/>
          </a:xfrm>
          <a:prstGeom prst="rect">
            <a:avLst/>
          </a:prstGeom>
          <a:solidFill>
            <a:schemeClr val="dk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it-IT" sz="1400" spc="-1" strike="noStrike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37" name="Google Shape;40;p9"/>
          <p:cNvCxnSpPr/>
          <p:nvPr/>
        </p:nvCxnSpPr>
        <p:spPr>
          <a:xfrm>
            <a:off x="5029560" y="4495320"/>
            <a:ext cx="468720" cy="360"/>
          </a:xfrm>
          <a:prstGeom prst="straightConnector1">
            <a:avLst/>
          </a:prstGeom>
          <a:ln w="19050">
            <a:solidFill>
              <a:srgbClr val="ffffff"/>
            </a:solidFill>
            <a:round/>
          </a:ln>
        </p:spPr>
      </p:cxnSp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265680" y="1108080"/>
            <a:ext cx="4044960" cy="168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rmAutofit fontScale="78077"/>
          </a:bodyPr>
          <a:p>
            <a:pPr indent="0">
              <a:buNone/>
            </a:pPr>
            <a:r>
              <a:rPr b="0" lang="it-IT" sz="4200" spc="-1" strike="noStrike">
                <a:solidFill>
                  <a:srgbClr val="000000"/>
                </a:solidFill>
                <a:latin typeface="Arial"/>
              </a:rPr>
              <a:t>Fai clic per modificare il formato del testo del titolo</a:t>
            </a:r>
            <a:endParaRPr b="0" lang="it-IT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939560" y="724320"/>
            <a:ext cx="3836520" cy="369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 fontScale="87222" lnSpcReduction="2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pc="-1" strike="noStrike">
                <a:solidFill>
                  <a:srgbClr val="000000"/>
                </a:solidFill>
                <a:latin typeface="Arial"/>
              </a:rPr>
              <a:t>Fai clic per modificare il formato del testo della struttura</a:t>
            </a:r>
            <a:endParaRPr b="0" lang="it-IT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it-IT" sz="1800" spc="-1" strike="noStrike">
                <a:solidFill>
                  <a:srgbClr val="000000"/>
                </a:solidFill>
                <a:latin typeface="Arial"/>
              </a:rPr>
              <a:t>Secondo livello struttura</a:t>
            </a:r>
            <a:endParaRPr b="0" lang="it-IT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pc="-1" strike="noStrike">
                <a:solidFill>
                  <a:srgbClr val="000000"/>
                </a:solidFill>
                <a:latin typeface="Arial"/>
              </a:rPr>
              <a:t>Terzo livello struttura</a:t>
            </a:r>
            <a:endParaRPr b="0" lang="it-IT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it-IT" sz="1800" spc="-1" strike="noStrike">
                <a:solidFill>
                  <a:srgbClr val="000000"/>
                </a:solidFill>
                <a:latin typeface="Arial"/>
              </a:rPr>
              <a:t>Quarto livello struttura</a:t>
            </a:r>
            <a:endParaRPr b="0" lang="it-IT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pc="-1" strike="noStrike">
                <a:solidFill>
                  <a:srgbClr val="000000"/>
                </a:solidFill>
                <a:latin typeface="Arial"/>
              </a:rPr>
              <a:t>Quinto livello struttura</a:t>
            </a:r>
            <a:endParaRPr b="0" lang="it-IT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pc="-1" strike="noStrike">
                <a:solidFill>
                  <a:srgbClr val="000000"/>
                </a:solidFill>
                <a:latin typeface="Arial"/>
              </a:rPr>
              <a:t>Sesto livello struttura</a:t>
            </a:r>
            <a:endParaRPr b="0" lang="it-IT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pc="-1" strike="noStrike">
                <a:solidFill>
                  <a:srgbClr val="000000"/>
                </a:solidFill>
                <a:latin typeface="Arial"/>
              </a:rPr>
              <a:t>Settimo livello struttura</a:t>
            </a:r>
            <a:endParaRPr b="0" lang="it-I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sldNum" idx="10"/>
          </p:nvPr>
        </p:nvSpPr>
        <p:spPr>
          <a:xfrm>
            <a:off x="8490240" y="4681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it" sz="1000" spc="-1" strike="noStrike">
                <a:solidFill>
                  <a:schemeClr val="lt1"/>
                </a:solidFill>
                <a:latin typeface="Lato"/>
                <a:ea typeface="La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BEBC722-0F99-4AF7-B2A4-F614A985E29F}" type="slidenum">
              <a:rPr b="0" lang="it" sz="1000" spc="-1" strike="noStrike">
                <a:solidFill>
                  <a:schemeClr val="lt1"/>
                </a:solidFill>
                <a:latin typeface="Lato"/>
                <a:ea typeface="Lato"/>
              </a:rPr>
              <a:t>&lt;numero&gt;</a:t>
            </a:fld>
            <a:endParaRPr b="0" lang="it-IT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body"/>
          </p:nvPr>
        </p:nvSpPr>
        <p:spPr>
          <a:xfrm>
            <a:off x="319680" y="4230720"/>
            <a:ext cx="5998320" cy="598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 fontScale="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pc="-1" strike="noStrike">
                <a:solidFill>
                  <a:srgbClr val="000000"/>
                </a:solidFill>
                <a:latin typeface="Arial"/>
              </a:rPr>
              <a:t>Fai clic per modificare il formato del testo della struttura</a:t>
            </a:r>
            <a:endParaRPr b="0" lang="it-IT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it-IT" sz="1800" spc="-1" strike="noStrike">
                <a:solidFill>
                  <a:srgbClr val="000000"/>
                </a:solidFill>
                <a:latin typeface="Arial"/>
              </a:rPr>
              <a:t>Secondo livello struttura</a:t>
            </a:r>
            <a:endParaRPr b="0" lang="it-IT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pc="-1" strike="noStrike">
                <a:solidFill>
                  <a:srgbClr val="000000"/>
                </a:solidFill>
                <a:latin typeface="Arial"/>
              </a:rPr>
              <a:t>Terzo livello struttura</a:t>
            </a:r>
            <a:endParaRPr b="0" lang="it-IT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it-IT" sz="1800" spc="-1" strike="noStrike">
                <a:solidFill>
                  <a:srgbClr val="000000"/>
                </a:solidFill>
                <a:latin typeface="Arial"/>
              </a:rPr>
              <a:t>Quarto livello struttura</a:t>
            </a:r>
            <a:endParaRPr b="0" lang="it-IT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pc="-1" strike="noStrike">
                <a:solidFill>
                  <a:srgbClr val="000000"/>
                </a:solidFill>
                <a:latin typeface="Arial"/>
              </a:rPr>
              <a:t>Quinto livello struttura</a:t>
            </a:r>
            <a:endParaRPr b="0" lang="it-IT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pc="-1" strike="noStrike">
                <a:solidFill>
                  <a:srgbClr val="000000"/>
                </a:solidFill>
                <a:latin typeface="Arial"/>
              </a:rPr>
              <a:t>Sesto livello struttura</a:t>
            </a:r>
            <a:endParaRPr b="0" lang="it-IT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pc="-1" strike="noStrike">
                <a:solidFill>
                  <a:srgbClr val="000000"/>
                </a:solidFill>
                <a:latin typeface="Arial"/>
              </a:rPr>
              <a:t>Settimo livello struttura</a:t>
            </a:r>
            <a:endParaRPr b="0" lang="it-I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11"/>
          </p:nvPr>
        </p:nvSpPr>
        <p:spPr>
          <a:xfrm>
            <a:off x="8490240" y="4681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it" sz="1000" spc="-1" strike="noStrike">
                <a:solidFill>
                  <a:schemeClr val="dk2"/>
                </a:solidFill>
                <a:latin typeface="Lato"/>
                <a:ea typeface="La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C13A8A0-CDBC-4A64-8A7F-D82DBEE651B3}" type="slidenum">
              <a:rPr b="0" lang="it" sz="1000" spc="-1" strike="noStrike">
                <a:solidFill>
                  <a:schemeClr val="dk2"/>
                </a:solidFill>
                <a:latin typeface="Lato"/>
                <a:ea typeface="Lato"/>
              </a:rPr>
              <a:t>&lt;numero&gt;</a:t>
            </a:fld>
            <a:endParaRPr b="0" lang="it-IT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jpeg"/><Relationship Id="rId3" Type="http://schemas.openxmlformats.org/officeDocument/2006/relationships/slideLayout" Target="../slideLayouts/slideLayout5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4.jpeg"/><Relationship Id="rId3" Type="http://schemas.openxmlformats.org/officeDocument/2006/relationships/slideLayout" Target="../slideLayouts/slideLayout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jpeg"/><Relationship Id="rId3" Type="http://schemas.openxmlformats.org/officeDocument/2006/relationships/slideLayout" Target="../slideLayouts/slideLayout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5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5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5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5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5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slideLayout" Target="../slideLayouts/slideLayout5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3.png"/><Relationship Id="rId3" Type="http://schemas.openxmlformats.org/officeDocument/2006/relationships/slideLayout" Target="../slideLayouts/slideLayout5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png"/><Relationship Id="rId3" Type="http://schemas.openxmlformats.org/officeDocument/2006/relationships/slideLayout" Target="../slideLayouts/slideLayout5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7.png"/><Relationship Id="rId3" Type="http://schemas.openxmlformats.org/officeDocument/2006/relationships/slideLayout" Target="../slideLayouts/slideLayout5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19.png"/><Relationship Id="rId3" Type="http://schemas.openxmlformats.org/officeDocument/2006/relationships/slideLayout" Target="../slideLayouts/slideLayout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5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2880000" y="1440000"/>
            <a:ext cx="3420000" cy="144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it" sz="3200" spc="-1" strike="noStrike">
                <a:solidFill>
                  <a:schemeClr val="lt1"/>
                </a:solidFill>
                <a:latin typeface="Consolas"/>
                <a:ea typeface="Consolas"/>
              </a:rPr>
              <a:t>AuraDetector</a:t>
            </a:r>
            <a:endParaRPr b="0" lang="it-IT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subTitle"/>
          </p:nvPr>
        </p:nvSpPr>
        <p:spPr>
          <a:xfrm>
            <a:off x="3096360" y="3267000"/>
            <a:ext cx="2950920" cy="700920"/>
          </a:xfrm>
          <a:prstGeom prst="rect">
            <a:avLst/>
          </a:prstGeom>
          <a:noFill/>
          <a:ln w="9360">
            <a:solidFill>
              <a:schemeClr val="lt1"/>
            </a:solidFill>
            <a:round/>
          </a:ln>
        </p:spPr>
        <p:txBody>
          <a:bodyPr lIns="91440" rIns="91440" tIns="91440" bIns="91440" anchor="b">
            <a:normAutofit fontScale="75000" lnSpcReduction="20000"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it" sz="1800" spc="-1" strike="noStrike">
                <a:solidFill>
                  <a:schemeClr val="lt1"/>
                </a:solidFill>
                <a:latin typeface="Consolas"/>
                <a:ea typeface="Consolas"/>
              </a:rPr>
              <a:t>Elaborato per il corso di prototipizzazione con Arduino A.A. 2025/2026</a:t>
            </a:r>
            <a:endParaRPr b="0" lang="it-I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Google Shape;61;p13"/>
          <p:cNvSpPr/>
          <p:nvPr/>
        </p:nvSpPr>
        <p:spPr>
          <a:xfrm>
            <a:off x="3096360" y="1018080"/>
            <a:ext cx="17838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it" sz="1200" spc="-1" strike="noStrike">
                <a:solidFill>
                  <a:schemeClr val="lt1"/>
                </a:solidFill>
                <a:latin typeface="Consolas"/>
                <a:ea typeface="Consolas"/>
              </a:rPr>
              <a:t>Marco Melegatti</a:t>
            </a:r>
            <a:endParaRPr b="0" lang="it-IT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it" sz="1200" spc="-1" strike="noStrike">
                <a:solidFill>
                  <a:schemeClr val="lt1"/>
                </a:solidFill>
                <a:latin typeface="Consolas"/>
                <a:ea typeface="Consolas"/>
              </a:rPr>
              <a:t>    </a:t>
            </a:r>
            <a:r>
              <a:rPr b="0" lang="it" sz="1200" spc="-1" strike="noStrike">
                <a:solidFill>
                  <a:schemeClr val="lt1"/>
                </a:solidFill>
                <a:latin typeface="Consolas"/>
                <a:ea typeface="Consolas"/>
              </a:rPr>
              <a:t>VR502471</a:t>
            </a:r>
            <a:endParaRPr b="0" lang="it-IT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Google Shape;62;p13"/>
          <p:cNvSpPr/>
          <p:nvPr/>
        </p:nvSpPr>
        <p:spPr>
          <a:xfrm>
            <a:off x="4263840" y="1018080"/>
            <a:ext cx="17838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r">
              <a:lnSpc>
                <a:spcPct val="100000"/>
              </a:lnSpc>
              <a:tabLst>
                <a:tab algn="l" pos="0"/>
              </a:tabLst>
            </a:pPr>
            <a:r>
              <a:rPr b="0" lang="it" sz="1200" spc="-1" strike="noStrike">
                <a:solidFill>
                  <a:schemeClr val="lt1"/>
                </a:solidFill>
                <a:latin typeface="Consolas"/>
                <a:ea typeface="Consolas"/>
              </a:rPr>
              <a:t>Luca Belloni</a:t>
            </a:r>
            <a:endParaRPr b="0" lang="it-IT" sz="12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it" sz="1200" spc="-1" strike="noStrike">
                <a:solidFill>
                  <a:schemeClr val="lt1"/>
                </a:solidFill>
                <a:latin typeface="Consolas"/>
                <a:ea typeface="Consolas"/>
              </a:rPr>
              <a:t>        </a:t>
            </a:r>
            <a:r>
              <a:rPr b="0" lang="it" sz="1200" spc="-1" strike="noStrike">
                <a:solidFill>
                  <a:schemeClr val="lt1"/>
                </a:solidFill>
                <a:latin typeface="Consolas"/>
                <a:ea typeface="Consolas"/>
              </a:rPr>
              <a:t>VR503921</a:t>
            </a:r>
            <a:endParaRPr b="0" lang="it-IT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20120" cy="62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3740"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it" sz="3200" spc="-1" strike="noStrike">
                <a:solidFill>
                  <a:schemeClr val="dk1"/>
                </a:solidFill>
                <a:latin typeface="Consolas"/>
                <a:ea typeface="Consolas"/>
              </a:rPr>
              <a:t>Introduzione</a:t>
            </a:r>
            <a:endParaRPr b="0" lang="it-IT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4502520" cy="386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it" sz="1800" spc="-1" strike="noStrike">
                <a:solidFill>
                  <a:schemeClr val="dk2"/>
                </a:solidFill>
                <a:latin typeface="Lato"/>
                <a:ea typeface="Lato"/>
              </a:rPr>
              <a:t>Il progetto AuraDetector consiste in un sistema dedicato al rilevamento e alla discriminazione di oggetti metallici. </a:t>
            </a:r>
            <a:endParaRPr b="0" lang="it-IT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spcBef>
                <a:spcPts val="1199"/>
              </a:spcBef>
              <a:spcAft>
                <a:spcPts val="1199"/>
              </a:spcAft>
              <a:buNone/>
              <a:tabLst>
                <a:tab algn="l" pos="0"/>
              </a:tabLst>
            </a:pPr>
            <a:r>
              <a:rPr b="0" lang="it" sz="1800" spc="-1" strike="noStrike">
                <a:solidFill>
                  <a:schemeClr val="dk2"/>
                </a:solidFill>
                <a:latin typeface="Lato"/>
                <a:ea typeface="Lato"/>
              </a:rPr>
              <a:t>Inoltre è in grado di svolgere una distinzione istantanea tra metalli con proprietà ferromagnetiche (indicati come ferrosi) e con metalli con proprietà paramagnetiche o diamagnetiche (indicati come non ferrosi)</a:t>
            </a:r>
            <a:endParaRPr b="0" lang="it-IT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9" name="Google Shape;69;p14" descr=""/>
          <p:cNvPicPr/>
          <p:nvPr/>
        </p:nvPicPr>
        <p:blipFill>
          <a:blip r:embed="rId1"/>
          <a:srcRect l="11589" t="15868" r="10781" b="11956"/>
          <a:stretch/>
        </p:blipFill>
        <p:spPr>
          <a:xfrm>
            <a:off x="5304240" y="1017360"/>
            <a:ext cx="3053160" cy="1892160"/>
          </a:xfrm>
          <a:prstGeom prst="rect">
            <a:avLst/>
          </a:prstGeom>
          <a:ln w="0">
            <a:noFill/>
          </a:ln>
        </p:spPr>
      </p:pic>
      <p:pic>
        <p:nvPicPr>
          <p:cNvPr id="50" name="Google Shape;70;p14" descr=""/>
          <p:cNvPicPr/>
          <p:nvPr/>
        </p:nvPicPr>
        <p:blipFill>
          <a:blip r:embed="rId2"/>
          <a:stretch/>
        </p:blipFill>
        <p:spPr>
          <a:xfrm>
            <a:off x="5251680" y="2932560"/>
            <a:ext cx="3053160" cy="2035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20120" cy="62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3740"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it" sz="3200" spc="-1" strike="noStrike">
                <a:solidFill>
                  <a:schemeClr val="dk1"/>
                </a:solidFill>
                <a:latin typeface="Consolas"/>
                <a:ea typeface="Consolas"/>
              </a:rPr>
              <a:t>Moduli Principali</a:t>
            </a:r>
            <a:endParaRPr b="0" lang="it-IT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311760" y="1017360"/>
            <a:ext cx="4259880" cy="3972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87222" lnSpcReduction="10000"/>
          </a:bodyPr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1" lang="it" sz="1800" spc="-1" strike="noStrike" u="sng">
                <a:solidFill>
                  <a:schemeClr val="dk2"/>
                </a:solidFill>
                <a:uFillTx/>
                <a:latin typeface="Lato"/>
                <a:ea typeface="Lato"/>
              </a:rPr>
              <a:t>Modulo di acquisizione dati:</a:t>
            </a:r>
            <a:endParaRPr b="0" lang="it-IT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34440">
              <a:lnSpc>
                <a:spcPct val="100000"/>
              </a:lnSpc>
              <a:spcBef>
                <a:spcPts val="1199"/>
              </a:spcBef>
              <a:buClr>
                <a:srgbClr val="5e696c"/>
              </a:buClr>
              <a:buFont typeface="Lato"/>
              <a:buChar char="-"/>
              <a:tabLst>
                <a:tab algn="l" pos="0"/>
              </a:tabLst>
            </a:pPr>
            <a:r>
              <a:rPr b="1" lang="it" sz="1660" spc="-1" strike="noStrike">
                <a:solidFill>
                  <a:schemeClr val="dk2"/>
                </a:solidFill>
                <a:latin typeface="Lato"/>
                <a:ea typeface="Lato"/>
              </a:rPr>
              <a:t>Sensore induttivo LJ12A3-4-Z/BX</a:t>
            </a:r>
            <a:r>
              <a:rPr b="0" lang="it" sz="1660" spc="-1" strike="noStrike">
                <a:solidFill>
                  <a:schemeClr val="dk2"/>
                </a:solidFill>
                <a:latin typeface="Lato"/>
                <a:ea typeface="Lato"/>
              </a:rPr>
              <a:t>: basato sulla logica NPN (Normally Open), viene utilizzato per il rilevamento di materiali metallici, ad una distanza di circa 4 mm.</a:t>
            </a:r>
            <a:endParaRPr b="0" lang="it-IT" sz="1660" spc="-1" strike="noStrike">
              <a:solidFill>
                <a:srgbClr val="000000"/>
              </a:solidFill>
              <a:latin typeface="Arial"/>
            </a:endParaRPr>
          </a:p>
          <a:p>
            <a:pPr marL="457200" indent="0">
              <a:lnSpc>
                <a:spcPct val="50000"/>
              </a:lnSpc>
              <a:spcBef>
                <a:spcPts val="1199"/>
              </a:spcBef>
              <a:buNone/>
              <a:tabLst>
                <a:tab algn="l" pos="0"/>
              </a:tabLst>
            </a:pPr>
            <a:endParaRPr b="0" lang="it-IT" sz="1660" spc="-1" strike="noStrike">
              <a:solidFill>
                <a:srgbClr val="000000"/>
              </a:solidFill>
              <a:latin typeface="Arial"/>
            </a:endParaRPr>
          </a:p>
          <a:p>
            <a:pPr marL="457200" indent="-334440">
              <a:lnSpc>
                <a:spcPct val="100000"/>
              </a:lnSpc>
              <a:buClr>
                <a:srgbClr val="5e696c"/>
              </a:buClr>
              <a:buFont typeface="Lato"/>
              <a:buChar char="-"/>
              <a:tabLst>
                <a:tab algn="l" pos="0"/>
              </a:tabLst>
            </a:pPr>
            <a:r>
              <a:rPr b="1" lang="it" sz="1660" spc="-1" strike="noStrike">
                <a:solidFill>
                  <a:schemeClr val="dk2"/>
                </a:solidFill>
                <a:latin typeface="Lato"/>
                <a:ea typeface="Lato"/>
              </a:rPr>
              <a:t>Magnetometro GY-273: </a:t>
            </a:r>
            <a:r>
              <a:rPr b="0" lang="it" sz="1660" spc="-1" strike="noStrike">
                <a:solidFill>
                  <a:schemeClr val="dk2"/>
                </a:solidFill>
                <a:latin typeface="Lato"/>
                <a:ea typeface="Lato"/>
              </a:rPr>
              <a:t>grazie al chip QML5883L, è</a:t>
            </a:r>
            <a:r>
              <a:rPr b="1" lang="it" sz="1660" spc="-1" strike="noStrike">
                <a:solidFill>
                  <a:schemeClr val="dk2"/>
                </a:solidFill>
                <a:latin typeface="Lato"/>
                <a:ea typeface="Lato"/>
              </a:rPr>
              <a:t> </a:t>
            </a:r>
            <a:r>
              <a:rPr b="0" lang="it" sz="1660" spc="-1" strike="noStrike">
                <a:solidFill>
                  <a:schemeClr val="dk2"/>
                </a:solidFill>
                <a:latin typeface="Lato"/>
                <a:ea typeface="Lato"/>
              </a:rPr>
              <a:t>in grado di misurare le perturbazioni del campo magnetico locale indotte dal materiale metallico, una volta rilevate dal sensore induttivo.</a:t>
            </a:r>
            <a:endParaRPr b="0" lang="it-IT" sz="1660" spc="-1" strike="noStrike">
              <a:solidFill>
                <a:srgbClr val="000000"/>
              </a:solidFill>
              <a:latin typeface="Arial"/>
            </a:endParaRPr>
          </a:p>
          <a:p>
            <a:pPr marL="457200" indent="0">
              <a:lnSpc>
                <a:spcPct val="50000"/>
              </a:lnSpc>
              <a:spcBef>
                <a:spcPts val="1199"/>
              </a:spcBef>
              <a:buNone/>
              <a:tabLst>
                <a:tab algn="l" pos="0"/>
              </a:tabLst>
            </a:pPr>
            <a:endParaRPr b="0" lang="it-IT" sz="1660" spc="-1" strike="noStrike">
              <a:solidFill>
                <a:srgbClr val="000000"/>
              </a:solidFill>
              <a:latin typeface="Arial"/>
            </a:endParaRPr>
          </a:p>
          <a:p>
            <a:pPr marL="457200" indent="-334440">
              <a:lnSpc>
                <a:spcPct val="115000"/>
              </a:lnSpc>
              <a:buClr>
                <a:srgbClr val="5e696c"/>
              </a:buClr>
              <a:buFont typeface="Lato"/>
              <a:buChar char="-"/>
              <a:tabLst>
                <a:tab algn="l" pos="0"/>
              </a:tabLst>
            </a:pPr>
            <a:r>
              <a:rPr b="1" lang="it" sz="1660" spc="-1" strike="noStrike">
                <a:solidFill>
                  <a:schemeClr val="dk2"/>
                </a:solidFill>
                <a:latin typeface="Lato"/>
                <a:ea typeface="Lato"/>
              </a:rPr>
              <a:t>Scheda Arduino Uno</a:t>
            </a:r>
            <a:r>
              <a:rPr b="0" lang="it" sz="1660" spc="-1" strike="noStrike">
                <a:solidFill>
                  <a:schemeClr val="dk2"/>
                </a:solidFill>
                <a:latin typeface="Lato"/>
                <a:ea typeface="Lato"/>
              </a:rPr>
              <a:t>: Per l’elaborazione dei segnali analogici e la calibrazione ambientale del sistema</a:t>
            </a:r>
            <a:endParaRPr b="0" lang="it-IT" sz="166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3" name="Google Shape;77;p15" descr=""/>
          <p:cNvPicPr/>
          <p:nvPr/>
        </p:nvPicPr>
        <p:blipFill>
          <a:blip r:embed="rId1"/>
          <a:srcRect l="0" t="5647" r="0" b="7990"/>
          <a:stretch/>
        </p:blipFill>
        <p:spPr>
          <a:xfrm>
            <a:off x="5982840" y="3477600"/>
            <a:ext cx="1784520" cy="1541160"/>
          </a:xfrm>
          <a:prstGeom prst="rect">
            <a:avLst/>
          </a:prstGeom>
          <a:ln w="0">
            <a:noFill/>
          </a:ln>
        </p:spPr>
      </p:pic>
      <p:pic>
        <p:nvPicPr>
          <p:cNvPr id="54" name="Google Shape;78;p15" descr=""/>
          <p:cNvPicPr/>
          <p:nvPr/>
        </p:nvPicPr>
        <p:blipFill>
          <a:blip r:embed="rId2"/>
          <a:stretch/>
        </p:blipFill>
        <p:spPr>
          <a:xfrm>
            <a:off x="6072120" y="1017360"/>
            <a:ext cx="1577160" cy="23659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20120" cy="62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3740"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it" sz="3200" spc="-1" strike="noStrike">
                <a:solidFill>
                  <a:schemeClr val="dk1"/>
                </a:solidFill>
                <a:latin typeface="Consolas"/>
                <a:ea typeface="Consolas"/>
              </a:rPr>
              <a:t>Moduli Principali</a:t>
            </a:r>
            <a:endParaRPr b="0" lang="it-IT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311760" y="1017360"/>
            <a:ext cx="4259880" cy="3972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3333" lnSpcReduction="10000"/>
          </a:bodyPr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1" lang="it" sz="1800" spc="-1" strike="noStrike" u="sng">
                <a:solidFill>
                  <a:schemeClr val="dk2"/>
                </a:solidFill>
                <a:uFillTx/>
                <a:latin typeface="Lato"/>
                <a:ea typeface="Lato"/>
              </a:rPr>
              <a:t>Modulo di comunicazione dati:</a:t>
            </a:r>
            <a:endParaRPr b="0" lang="it-IT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22200">
              <a:lnSpc>
                <a:spcPct val="100000"/>
              </a:lnSpc>
              <a:spcBef>
                <a:spcPts val="1199"/>
              </a:spcBef>
              <a:buClr>
                <a:srgbClr val="5e696c"/>
              </a:buClr>
              <a:buFont typeface="Lato"/>
              <a:buChar char="-"/>
              <a:tabLst>
                <a:tab algn="l" pos="0"/>
              </a:tabLst>
            </a:pPr>
            <a:r>
              <a:rPr b="1" lang="it" sz="1660" spc="-1" strike="noStrike">
                <a:solidFill>
                  <a:schemeClr val="dk2"/>
                </a:solidFill>
                <a:latin typeface="Lato"/>
                <a:ea typeface="Lato"/>
              </a:rPr>
              <a:t>Scheda ESP32: </a:t>
            </a:r>
            <a:r>
              <a:rPr b="0" lang="it" sz="1660" spc="-1" strike="noStrike">
                <a:solidFill>
                  <a:schemeClr val="dk2"/>
                </a:solidFill>
                <a:latin typeface="Lato"/>
                <a:ea typeface="Lato"/>
              </a:rPr>
              <a:t>programmata in Micropython,</a:t>
            </a:r>
            <a:r>
              <a:rPr b="1" lang="it" sz="1660" spc="-1" strike="noStrike">
                <a:solidFill>
                  <a:schemeClr val="dk2"/>
                </a:solidFill>
                <a:latin typeface="Lato"/>
                <a:ea typeface="Lato"/>
              </a:rPr>
              <a:t> </a:t>
            </a:r>
            <a:r>
              <a:rPr b="0" lang="it" sz="1660" spc="-1" strike="noStrike">
                <a:solidFill>
                  <a:schemeClr val="dk2"/>
                </a:solidFill>
                <a:latin typeface="Lato"/>
                <a:ea typeface="Lato"/>
              </a:rPr>
              <a:t>funge da gateway asincrono UART-BLE ricevendo i dati da Arduino, trasmettendogli poi via Bluetooth al dispositivo (PC) connesso.</a:t>
            </a:r>
            <a:endParaRPr b="0" lang="it-IT" sz="166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1" lang="it" sz="1800" spc="-1" strike="noStrike" u="sng">
                <a:solidFill>
                  <a:schemeClr val="dk2"/>
                </a:solidFill>
                <a:uFillTx/>
                <a:latin typeface="Lato"/>
                <a:ea typeface="Lato"/>
              </a:rPr>
              <a:t>Modulo di visualizzazione dati:</a:t>
            </a:r>
            <a:endParaRPr b="0" lang="it-IT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22200">
              <a:lnSpc>
                <a:spcPct val="100000"/>
              </a:lnSpc>
              <a:spcBef>
                <a:spcPts val="1199"/>
              </a:spcBef>
              <a:buClr>
                <a:srgbClr val="5e696c"/>
              </a:buClr>
              <a:buFont typeface="Lato"/>
              <a:buChar char="-"/>
              <a:tabLst>
                <a:tab algn="l" pos="0"/>
              </a:tabLst>
            </a:pPr>
            <a:r>
              <a:rPr b="1" lang="it" sz="1660" spc="-1" strike="noStrike">
                <a:solidFill>
                  <a:schemeClr val="dk2"/>
                </a:solidFill>
                <a:latin typeface="Lato"/>
                <a:ea typeface="Lato"/>
              </a:rPr>
              <a:t>Applicazione con ambiente Python: </a:t>
            </a:r>
            <a:r>
              <a:rPr b="0" lang="it" sz="1660" spc="-1" strike="noStrike">
                <a:solidFill>
                  <a:schemeClr val="dk2"/>
                </a:solidFill>
                <a:latin typeface="Lato"/>
                <a:ea typeface="Lato"/>
              </a:rPr>
              <a:t>Per la ricezione tramite Bluetooth e la elaborazione dei dati in tempo reale. Inoltre provvede anche ad una rappresentazione grafica della perturbazione mediante una curva gaussiana.</a:t>
            </a:r>
            <a:endParaRPr b="0" lang="it-IT" sz="166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7" name="Google Shape;85;p16" descr=""/>
          <p:cNvPicPr/>
          <p:nvPr/>
        </p:nvPicPr>
        <p:blipFill>
          <a:blip r:embed="rId1"/>
          <a:stretch/>
        </p:blipFill>
        <p:spPr>
          <a:xfrm>
            <a:off x="5333400" y="3041640"/>
            <a:ext cx="3723480" cy="1947960"/>
          </a:xfrm>
          <a:prstGeom prst="rect">
            <a:avLst/>
          </a:prstGeom>
          <a:ln w="0">
            <a:noFill/>
          </a:ln>
        </p:spPr>
      </p:pic>
      <p:pic>
        <p:nvPicPr>
          <p:cNvPr id="58" name="Google Shape;86;p16" descr=""/>
          <p:cNvPicPr/>
          <p:nvPr/>
        </p:nvPicPr>
        <p:blipFill>
          <a:blip r:embed="rId2"/>
          <a:stretch/>
        </p:blipFill>
        <p:spPr>
          <a:xfrm>
            <a:off x="6068880" y="1017360"/>
            <a:ext cx="2023920" cy="20239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/>
          </p:nvPr>
        </p:nvSpPr>
        <p:spPr>
          <a:xfrm>
            <a:off x="442080" y="1017360"/>
            <a:ext cx="8259840" cy="1240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19444"/>
          </a:bodyPr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1" lang="it" sz="5800" spc="-1" strike="noStrike" u="sng">
                <a:solidFill>
                  <a:schemeClr val="dk2"/>
                </a:solidFill>
                <a:uFillTx/>
                <a:latin typeface="Lato"/>
                <a:ea typeface="Lato"/>
              </a:rPr>
              <a:t>Modulo di alimentazione e sensore induttivo LJ12A3-4-Z/BX</a:t>
            </a:r>
            <a:endParaRPr b="0" lang="it-IT" sz="5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endParaRPr b="0" lang="it-IT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it" sz="5050" spc="-1" strike="noStrike">
                <a:solidFill>
                  <a:schemeClr val="dk2"/>
                </a:solidFill>
                <a:latin typeface="Lato"/>
                <a:ea typeface="Lato"/>
              </a:rPr>
              <a:t>Alimentato dalla batteria da 9V, svolge la funzione di trigger per l’intero sistema.</a:t>
            </a:r>
            <a:endParaRPr b="0" lang="it-IT" sz="505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it" sz="5050" spc="-1" strike="noStrike">
                <a:solidFill>
                  <a:schemeClr val="dk2"/>
                </a:solidFill>
                <a:latin typeface="Lato"/>
                <a:ea typeface="Lato"/>
              </a:rPr>
              <a:t>L’uscita del sensore induttivo, in assenza di oggetti metallici, è flottante (poiché il transistor interno al sensore è </a:t>
            </a:r>
            <a:endParaRPr b="0" lang="it-IT" sz="505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it" sz="5050" spc="-1" strike="noStrike">
                <a:solidFill>
                  <a:schemeClr val="dk2"/>
                </a:solidFill>
                <a:latin typeface="Lato"/>
                <a:ea typeface="Lato"/>
              </a:rPr>
              <a:t>aperto, secondo la logica NPN).</a:t>
            </a:r>
            <a:endParaRPr b="0" lang="it-IT" sz="505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it" sz="5050" spc="-1" strike="noStrike">
                <a:solidFill>
                  <a:schemeClr val="dk2"/>
                </a:solidFill>
                <a:latin typeface="Lato"/>
                <a:ea typeface="Lato"/>
              </a:rPr>
              <a:t>Il fotoaccoppiatore PC817 riceve la corrente da 9V dalla linea positiva inferiore, ma il circuito rimane interrotto.</a:t>
            </a:r>
            <a:endParaRPr b="0" lang="it-IT" sz="505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br>
              <a:rPr sz="1400"/>
            </a:br>
            <a:endParaRPr b="0" lang="it-IT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endParaRPr b="0" lang="it-IT" sz="1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20120" cy="62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3740"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it" sz="3200" spc="-1" strike="noStrike">
                <a:solidFill>
                  <a:schemeClr val="dk1"/>
                </a:solidFill>
                <a:latin typeface="Consolas"/>
                <a:ea typeface="Consolas"/>
              </a:rPr>
              <a:t>Schema e funzionamento del circuito</a:t>
            </a:r>
            <a:endParaRPr b="0" lang="it-IT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1" name="Google Shape;93;p17" descr=""/>
          <p:cNvPicPr/>
          <p:nvPr/>
        </p:nvPicPr>
        <p:blipFill>
          <a:blip r:embed="rId1"/>
          <a:stretch/>
        </p:blipFill>
        <p:spPr>
          <a:xfrm>
            <a:off x="4572000" y="2281680"/>
            <a:ext cx="4391640" cy="2275920"/>
          </a:xfrm>
          <a:prstGeom prst="rect">
            <a:avLst/>
          </a:prstGeom>
          <a:ln w="0">
            <a:noFill/>
          </a:ln>
        </p:spPr>
      </p:pic>
      <p:sp>
        <p:nvSpPr>
          <p:cNvPr id="62" name="PlaceHolder 3"/>
          <p:cNvSpPr>
            <a:spLocks noGrp="1"/>
          </p:cNvSpPr>
          <p:nvPr>
            <p:ph/>
          </p:nvPr>
        </p:nvSpPr>
        <p:spPr>
          <a:xfrm>
            <a:off x="442080" y="2049840"/>
            <a:ext cx="3816000" cy="269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21111" lnSpcReduction="10000"/>
          </a:bodyPr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endParaRPr b="0" lang="it-IT" sz="505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it" sz="5050" spc="-1" strike="noStrike">
                <a:solidFill>
                  <a:schemeClr val="dk2"/>
                </a:solidFill>
                <a:latin typeface="Lato"/>
                <a:ea typeface="Lato"/>
              </a:rPr>
              <a:t>Rilevato un metallo, il transistor interno al sensore si chiude, rendendo il cavo di output (nero) un cavo di massa.</a:t>
            </a:r>
            <a:endParaRPr b="0" lang="it-IT" sz="505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it" sz="5050" spc="-1" strike="noStrike">
                <a:solidFill>
                  <a:schemeClr val="dk2"/>
                </a:solidFill>
                <a:latin typeface="Lato"/>
                <a:ea typeface="Lato"/>
              </a:rPr>
              <a:t>La corrente a 9V, scorre verso il Pin 1 (anodo) del fotoaccoppiatore, limitata dal resistore da 1kΩ, in modo da proteggere il componente garantendo la saturazione del fototransistor interno sul lato secondario.</a:t>
            </a:r>
            <a:endParaRPr b="0" lang="it-IT" sz="505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endParaRPr b="0" lang="it-IT" sz="505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it" sz="5050" spc="-1" strike="noStrike">
                <a:solidFill>
                  <a:schemeClr val="dk2"/>
                </a:solidFill>
                <a:latin typeface="Lato"/>
                <a:ea typeface="Lato"/>
              </a:rPr>
              <a:t>La corrente in uscita dal Pin 2 (catodo), scorre lungo</a:t>
            </a:r>
            <a:endParaRPr b="0" lang="it-IT" sz="505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it" sz="5050" spc="-1" strike="noStrike">
                <a:solidFill>
                  <a:schemeClr val="dk2"/>
                </a:solidFill>
                <a:latin typeface="Lato"/>
                <a:ea typeface="Lato"/>
              </a:rPr>
              <a:t> </a:t>
            </a:r>
            <a:r>
              <a:rPr b="0" lang="it" sz="5050" spc="-1" strike="noStrike">
                <a:solidFill>
                  <a:schemeClr val="dk2"/>
                </a:solidFill>
                <a:latin typeface="Lato"/>
                <a:ea typeface="Lato"/>
              </a:rPr>
              <a:t>il cavo di output del sensore induttivo, chiudendo il circuito tramite il cavo di massa (blu) nella linea GND inferiore della breadboard.</a:t>
            </a:r>
            <a:endParaRPr b="0" lang="it-IT" sz="5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20120" cy="62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3740"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it" sz="3200" spc="-1" strike="noStrike">
                <a:solidFill>
                  <a:schemeClr val="dk1"/>
                </a:solidFill>
                <a:latin typeface="Consolas"/>
                <a:ea typeface="Consolas"/>
              </a:rPr>
              <a:t>Schema e funzionamento del circuito</a:t>
            </a:r>
            <a:endParaRPr b="0" lang="it-IT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4" name="Google Shape;100;p18" descr=""/>
          <p:cNvPicPr/>
          <p:nvPr/>
        </p:nvPicPr>
        <p:blipFill>
          <a:blip r:embed="rId1"/>
          <a:stretch/>
        </p:blipFill>
        <p:spPr>
          <a:xfrm>
            <a:off x="4527000" y="2455920"/>
            <a:ext cx="4568760" cy="2367720"/>
          </a:xfrm>
          <a:prstGeom prst="rect">
            <a:avLst/>
          </a:prstGeom>
          <a:ln w="0">
            <a:noFill/>
          </a:ln>
        </p:spPr>
      </p:pic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442080" y="2237760"/>
            <a:ext cx="3816000" cy="2585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21111" lnSpcReduction="20000"/>
          </a:bodyPr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it" sz="5050" spc="-1" strike="noStrike">
                <a:solidFill>
                  <a:schemeClr val="dk2"/>
                </a:solidFill>
                <a:latin typeface="Lato"/>
                <a:ea typeface="Lato"/>
              </a:rPr>
              <a:t>In assenza di metalli, il LED interno al PC817 è spento</a:t>
            </a:r>
            <a:endParaRPr b="0" lang="it-IT" sz="505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it" sz="5050" spc="-1" strike="noStrike">
                <a:solidFill>
                  <a:schemeClr val="dk2"/>
                </a:solidFill>
                <a:latin typeface="Lato"/>
                <a:ea typeface="Lato"/>
              </a:rPr>
              <a:t>e il fototransistor è in stato di interdizione. Il pin</a:t>
            </a:r>
            <a:endParaRPr b="0" lang="it-IT" sz="505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it" sz="5050" spc="-1" strike="noStrike">
                <a:solidFill>
                  <a:schemeClr val="dk2"/>
                </a:solidFill>
                <a:latin typeface="Lato"/>
                <a:ea typeface="Lato"/>
              </a:rPr>
              <a:t>digitale è collegato alla linea dei 5V tramite il resistore</a:t>
            </a:r>
            <a:endParaRPr b="0" lang="it-IT" sz="505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it" sz="5050" spc="-1" strike="noStrike">
                <a:solidFill>
                  <a:schemeClr val="dk2"/>
                </a:solidFill>
                <a:latin typeface="Lato"/>
                <a:ea typeface="Lato"/>
              </a:rPr>
              <a:t>da 10kΩ, che mantiene il potenziale elettrico allo stato HIGH.</a:t>
            </a:r>
            <a:endParaRPr b="0" lang="it-IT" sz="505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endParaRPr b="0" lang="it-IT" sz="505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it" sz="5050" spc="-1" strike="noStrike">
                <a:solidFill>
                  <a:schemeClr val="dk2"/>
                </a:solidFill>
                <a:latin typeface="Lato"/>
                <a:ea typeface="Lato"/>
              </a:rPr>
              <a:t>In presenza di metalli, il LED si attiva e il fototransistor entra in stato di saturazione, chiudendo il circuito verso la massa (GND).</a:t>
            </a:r>
            <a:endParaRPr b="0" lang="it-IT" sz="505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endParaRPr b="0" lang="it-IT" sz="505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it" sz="5050" spc="-1" strike="noStrike">
                <a:solidFill>
                  <a:schemeClr val="dk2"/>
                </a:solidFill>
                <a:latin typeface="Lato"/>
                <a:ea typeface="Lato"/>
              </a:rPr>
              <a:t>Il resistore da 10kΩ permette al pin di scendere a 0V,</a:t>
            </a:r>
            <a:endParaRPr b="0" lang="it-IT" sz="505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it" sz="5050" spc="-1" strike="noStrike">
                <a:solidFill>
                  <a:schemeClr val="dk2"/>
                </a:solidFill>
                <a:latin typeface="Lato"/>
                <a:ea typeface="Lato"/>
              </a:rPr>
              <a:t>inoltre stabilisce un legame a bassa impedenza rispetto </a:t>
            </a:r>
            <a:endParaRPr b="0" lang="it-IT" sz="505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it" sz="5050" spc="-1" strike="noStrike">
                <a:solidFill>
                  <a:schemeClr val="dk2"/>
                </a:solidFill>
                <a:latin typeface="Lato"/>
                <a:ea typeface="Lato"/>
              </a:rPr>
              <a:t>ai disturbi ambientali.</a:t>
            </a:r>
            <a:endParaRPr b="0" lang="it-IT" sz="505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endParaRPr b="0" lang="it-IT" sz="505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endParaRPr b="0" lang="it-IT" sz="5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/>
          </p:nvPr>
        </p:nvSpPr>
        <p:spPr>
          <a:xfrm>
            <a:off x="442080" y="876600"/>
            <a:ext cx="8259840" cy="138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21111" lnSpcReduction="10000"/>
          </a:bodyPr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1" lang="it" sz="5800" spc="-1" strike="noStrike" u="sng">
                <a:solidFill>
                  <a:schemeClr val="dk2"/>
                </a:solidFill>
                <a:uFillTx/>
                <a:latin typeface="Lato"/>
                <a:ea typeface="Lato"/>
              </a:rPr>
              <a:t>Modulo di pull-up per la comunicazione con Arduino</a:t>
            </a:r>
            <a:endParaRPr b="0" lang="it-IT" sz="5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br>
              <a:rPr sz="3800"/>
            </a:br>
            <a:r>
              <a:rPr b="0" lang="it" sz="5050" spc="-1" strike="noStrike">
                <a:solidFill>
                  <a:schemeClr val="dk2"/>
                </a:solidFill>
                <a:latin typeface="Lato"/>
                <a:ea typeface="Lato"/>
              </a:rPr>
              <a:t>Sul lato secondario del PC817, il fototransistor funge da isolamento galvanico ed interruttore logico per il dominio a 5V di Arduino.</a:t>
            </a:r>
            <a:endParaRPr b="0" lang="it-IT" sz="505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it" sz="5050" spc="-1" strike="noStrike">
                <a:solidFill>
                  <a:schemeClr val="dk2"/>
                </a:solidFill>
                <a:latin typeface="Lato"/>
                <a:ea typeface="Lato"/>
              </a:rPr>
              <a:t>Il Pin 3 (collettore) è collegato al pin A0 di Arduino, configurato come input digitale, e alla linea dei 5V tramite una resistenza di pull-up da 10kΩ.</a:t>
            </a:r>
            <a:endParaRPr b="0" lang="it-IT" sz="505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it" sz="5050" spc="-1" strike="noStrike">
                <a:solidFill>
                  <a:schemeClr val="dk2"/>
                </a:solidFill>
                <a:latin typeface="Lato"/>
                <a:ea typeface="Lato"/>
              </a:rPr>
              <a:t> </a:t>
            </a:r>
            <a:r>
              <a:rPr b="0" lang="it" sz="5050" spc="-1" strike="noStrike">
                <a:solidFill>
                  <a:schemeClr val="dk2"/>
                </a:solidFill>
                <a:latin typeface="Lato"/>
                <a:ea typeface="Lato"/>
              </a:rPr>
              <a:t>Il Pin 4 (emettitore) è collegato alla massa comune GND, sulla linea superiore della breadboard.</a:t>
            </a:r>
            <a:endParaRPr b="0" lang="it-IT" sz="505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endParaRPr b="0" lang="it-IT" sz="505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endParaRPr b="0" lang="it-IT" sz="5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20120" cy="62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3740"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it" sz="3200" spc="-1" strike="noStrike">
                <a:solidFill>
                  <a:schemeClr val="dk1"/>
                </a:solidFill>
                <a:latin typeface="Consolas"/>
                <a:ea typeface="Consolas"/>
              </a:rPr>
              <a:t>Schema e funzionamento del circuito</a:t>
            </a:r>
            <a:endParaRPr b="0" lang="it-IT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8" name="Google Shape;108;p19" descr=""/>
          <p:cNvPicPr/>
          <p:nvPr/>
        </p:nvPicPr>
        <p:blipFill>
          <a:blip r:embed="rId1"/>
          <a:stretch/>
        </p:blipFill>
        <p:spPr>
          <a:xfrm>
            <a:off x="4527000" y="2455920"/>
            <a:ext cx="4568760" cy="2367720"/>
          </a:xfrm>
          <a:prstGeom prst="rect">
            <a:avLst/>
          </a:prstGeom>
          <a:ln w="0">
            <a:noFill/>
          </a:ln>
        </p:spPr>
      </p:pic>
      <p:sp>
        <p:nvSpPr>
          <p:cNvPr id="69" name="PlaceHolder 2"/>
          <p:cNvSpPr>
            <a:spLocks noGrp="1"/>
          </p:cNvSpPr>
          <p:nvPr>
            <p:ph/>
          </p:nvPr>
        </p:nvSpPr>
        <p:spPr>
          <a:xfrm>
            <a:off x="442080" y="2082240"/>
            <a:ext cx="3816000" cy="280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21111" lnSpcReduction="20000"/>
          </a:bodyPr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it" sz="5050" spc="-1" strike="noStrike">
                <a:solidFill>
                  <a:schemeClr val="dk2"/>
                </a:solidFill>
                <a:latin typeface="Lato"/>
                <a:ea typeface="Lato"/>
              </a:rPr>
              <a:t>I Pin SDA e SCL del GY-273 sono collegati ai Pin A4 Serial Data (SDA) e A5 Serial Clock (SCL) di Arduino.</a:t>
            </a:r>
            <a:br>
              <a:rPr sz="5050"/>
            </a:br>
            <a:r>
              <a:rPr b="0" lang="it" sz="5050" spc="-1" strike="noStrike">
                <a:solidFill>
                  <a:schemeClr val="dk2"/>
                </a:solidFill>
                <a:latin typeface="Lato"/>
                <a:ea typeface="Lato"/>
              </a:rPr>
              <a:t>SDA permette ai dati relativi agli assi X,Y e Z di</a:t>
            </a:r>
            <a:endParaRPr b="0" lang="it-IT" sz="505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it" sz="5050" spc="-1" strike="noStrike">
                <a:solidFill>
                  <a:schemeClr val="dk2"/>
                </a:solidFill>
                <a:latin typeface="Lato"/>
                <a:ea typeface="Lato"/>
              </a:rPr>
              <a:t>transitare in maniera bidirezionale.</a:t>
            </a:r>
            <a:endParaRPr b="0" lang="it-IT" sz="505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endParaRPr b="0" lang="it-IT" sz="505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it" sz="5050" spc="-1" strike="noStrike">
                <a:solidFill>
                  <a:schemeClr val="dk2"/>
                </a:solidFill>
                <a:latin typeface="Lato"/>
                <a:ea typeface="Lato"/>
              </a:rPr>
              <a:t>Il Pin VCC riceve l’alimentazione dalla linea a 5V della breadboard, mentre il Pin GND è collegato alla linea di massa comune (GND). Quest’ultimo è un requisito fondamentale. Infatti, la linea GND comune agisce da potenziale zero di riferimento per tutti i microcontrollori.</a:t>
            </a:r>
            <a:endParaRPr b="0" lang="it-IT" sz="505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endParaRPr b="0" lang="it-IT" sz="505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it" sz="5050" spc="-1" strike="noStrike">
                <a:solidFill>
                  <a:schemeClr val="dk2"/>
                </a:solidFill>
                <a:latin typeface="Lato"/>
                <a:ea typeface="Lato"/>
              </a:rPr>
              <a:t>Se così non fosse le letture avrebbero valori totalmente falsati, in quanto effettuate basandosi su di un sistema di riferimento non comune fra Arduino e il magnetometro.</a:t>
            </a:r>
            <a:endParaRPr b="0" lang="it-IT" sz="5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/>
          </p:nvPr>
        </p:nvSpPr>
        <p:spPr>
          <a:xfrm>
            <a:off x="442080" y="876600"/>
            <a:ext cx="8259840" cy="138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22777" lnSpcReduction="20000"/>
          </a:bodyPr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1" lang="it" sz="5800" spc="-1" strike="noStrike" u="sng">
                <a:solidFill>
                  <a:schemeClr val="dk2"/>
                </a:solidFill>
                <a:uFillTx/>
                <a:latin typeface="Lato"/>
                <a:ea typeface="Lato"/>
              </a:rPr>
              <a:t>Modulo di comunicazione I2C e sensore magnetometro GY-273</a:t>
            </a:r>
            <a:endParaRPr b="0" lang="it-IT" sz="5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br>
              <a:rPr sz="3800"/>
            </a:br>
            <a:r>
              <a:rPr b="0" lang="it" sz="5050" spc="-1" strike="noStrike">
                <a:solidFill>
                  <a:schemeClr val="dk2"/>
                </a:solidFill>
                <a:latin typeface="Lato"/>
                <a:ea typeface="Lato"/>
              </a:rPr>
              <a:t>L’acquisizione del valore del campo magnetico locale è affidata al sensore magnetometro GY-273, tramite il chip QMC5883L.</a:t>
            </a:r>
            <a:br>
              <a:rPr sz="5050"/>
            </a:br>
            <a:r>
              <a:rPr b="0" lang="it" sz="5050" spc="-1" strike="noStrike">
                <a:solidFill>
                  <a:schemeClr val="dk2"/>
                </a:solidFill>
                <a:latin typeface="Lato"/>
                <a:ea typeface="Lato"/>
              </a:rPr>
              <a:t>Esso è interfacciato ad Arduino tramite il bus seriale sincrono I2C (Inter-Integrated-Circuit); questo metodo standard</a:t>
            </a:r>
            <a:endParaRPr b="0" lang="it-IT" sz="505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it" sz="5050" spc="-1" strike="noStrike">
                <a:solidFill>
                  <a:schemeClr val="dk2"/>
                </a:solidFill>
                <a:latin typeface="Lato"/>
                <a:ea typeface="Lato"/>
              </a:rPr>
              <a:t>di comunicazione permette lo scambio dei dati digitali tramite due linee di segnale.</a:t>
            </a:r>
            <a:endParaRPr b="0" lang="it-IT" sz="505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endParaRPr b="0" lang="it-IT" sz="505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endParaRPr b="0" lang="it-IT" sz="505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endParaRPr b="0" lang="it-IT" sz="5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/>
          </p:nvPr>
        </p:nvSpPr>
        <p:spPr>
          <a:xfrm>
            <a:off x="442080" y="1017360"/>
            <a:ext cx="8259840" cy="1240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19444" lnSpcReduction="10000"/>
          </a:bodyPr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1" lang="it" sz="5800" spc="-1" strike="noStrike" u="sng">
                <a:solidFill>
                  <a:schemeClr val="dk2"/>
                </a:solidFill>
                <a:uFillTx/>
                <a:latin typeface="Lato"/>
                <a:ea typeface="Lato"/>
              </a:rPr>
              <a:t>Modulo di adattamento dei livelli logici per la comunicazione con ESP32</a:t>
            </a:r>
            <a:endParaRPr b="0" lang="it-IT" sz="5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endParaRPr b="0" lang="it-IT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it" sz="5050" spc="-1" strike="noStrike">
                <a:solidFill>
                  <a:schemeClr val="dk2"/>
                </a:solidFill>
                <a:latin typeface="Lato"/>
                <a:ea typeface="Lato"/>
              </a:rPr>
              <a:t>La comunicazione dei dati processati avviene tramite il protocollo seriale asincrono UART che collega l’uscita TX di Arduino all’ingresso RX dell’ESP32.</a:t>
            </a:r>
            <a:br>
              <a:rPr sz="5050"/>
            </a:br>
            <a:r>
              <a:rPr b="0" lang="it" sz="5050" spc="-1" strike="noStrike">
                <a:solidFill>
                  <a:schemeClr val="dk2"/>
                </a:solidFill>
                <a:latin typeface="Lato"/>
                <a:ea typeface="Lato"/>
              </a:rPr>
              <a:t> Il segnale in uscita da TX, infatti, consiste in un treno di impulsi digitali a 5V codificati in formato ASCII, per rappresentare i valori numerici della perturbazione magnetica letta dal GY-273.</a:t>
            </a:r>
            <a:br>
              <a:rPr sz="5050"/>
            </a:br>
            <a:endParaRPr b="0" lang="it-IT" sz="505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endParaRPr b="0" lang="it-IT" sz="1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20120" cy="62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3740"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it" sz="3200" spc="-1" strike="noStrike">
                <a:solidFill>
                  <a:schemeClr val="dk1"/>
                </a:solidFill>
                <a:latin typeface="Consolas"/>
                <a:ea typeface="Consolas"/>
              </a:rPr>
              <a:t>Schema e funzionamento del circuito</a:t>
            </a:r>
            <a:endParaRPr b="0" lang="it-IT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3" name="Google Shape;117;p20" descr=""/>
          <p:cNvPicPr/>
          <p:nvPr/>
        </p:nvPicPr>
        <p:blipFill>
          <a:blip r:embed="rId1"/>
          <a:stretch/>
        </p:blipFill>
        <p:spPr>
          <a:xfrm>
            <a:off x="4572000" y="2471400"/>
            <a:ext cx="4476600" cy="2319840"/>
          </a:xfrm>
          <a:prstGeom prst="rect">
            <a:avLst/>
          </a:prstGeom>
          <a:ln w="0">
            <a:noFill/>
          </a:ln>
        </p:spPr>
      </p:pic>
      <p:sp>
        <p:nvSpPr>
          <p:cNvPr id="74" name="PlaceHolder 3"/>
          <p:cNvSpPr>
            <a:spLocks noGrp="1"/>
          </p:cNvSpPr>
          <p:nvPr>
            <p:ph/>
          </p:nvPr>
        </p:nvSpPr>
        <p:spPr>
          <a:xfrm>
            <a:off x="442080" y="2049840"/>
            <a:ext cx="3816000" cy="269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21111" lnSpcReduction="20000"/>
          </a:bodyPr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it" sz="5050" spc="-1" strike="noStrike">
                <a:solidFill>
                  <a:schemeClr val="dk2"/>
                </a:solidFill>
                <a:latin typeface="Lato"/>
                <a:ea typeface="Lato"/>
              </a:rPr>
              <a:t>Tuttavia, mentre Arduino opera con una logica a 5V, l’ESP32 utilizza una logica a 3.3V, rendendo necessario un partitore di tensione resistivo, in modo da evitare il danneggiamento dei pin di ingresso della scheda ESP32.</a:t>
            </a:r>
            <a:endParaRPr b="0" lang="it-IT" sz="505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it" sz="5050" spc="-1" strike="noStrike">
                <a:solidFill>
                  <a:schemeClr val="dk2"/>
                </a:solidFill>
                <a:latin typeface="Lato"/>
                <a:ea typeface="Lato"/>
              </a:rPr>
              <a:t> </a:t>
            </a:r>
            <a:endParaRPr b="0" lang="it-IT" sz="505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it" sz="5050" spc="-1" strike="noStrike">
                <a:solidFill>
                  <a:schemeClr val="dk2"/>
                </a:solidFill>
                <a:latin typeface="Lato"/>
                <a:ea typeface="Lato"/>
              </a:rPr>
              <a:t>Il partitore è composto da due resistori in serie, posti tra il segnale TX e la massa comune (GND),il primo da 2.2kΩ e il secondo da 4.7kΩ. Applicando il calcolo della tensione in uscita secondo la formula del partitore, il risultato è di circa 3.4V. Valore è ottimale per il corretto funzionamento della comunicazione, poichè supera la tensione minima richiesta per riconoscere lo stato logico HIGH (circa 2.4V) e non costituisce alcun pericolo per la scheda ESP32.</a:t>
            </a:r>
            <a:endParaRPr b="0" lang="it-IT" sz="505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endParaRPr b="0" lang="it-IT" sz="5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20120" cy="62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3740"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it" sz="3200" spc="-1" strike="noStrike">
                <a:solidFill>
                  <a:schemeClr val="dk1"/>
                </a:solidFill>
                <a:latin typeface="Consolas"/>
                <a:ea typeface="Consolas"/>
              </a:rPr>
              <a:t>Schema e funzionamento del circuito</a:t>
            </a:r>
            <a:endParaRPr b="0" lang="it-IT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6" name="Google Shape;124;p21" descr=""/>
          <p:cNvPicPr/>
          <p:nvPr/>
        </p:nvPicPr>
        <p:blipFill>
          <a:blip r:embed="rId1"/>
          <a:srcRect l="7145" t="0" r="2398" b="0"/>
          <a:stretch/>
        </p:blipFill>
        <p:spPr>
          <a:xfrm>
            <a:off x="4168080" y="2090160"/>
            <a:ext cx="4732200" cy="2710800"/>
          </a:xfrm>
          <a:prstGeom prst="rect">
            <a:avLst/>
          </a:prstGeom>
          <a:ln w="0">
            <a:noFill/>
          </a:ln>
        </p:spPr>
      </p:pic>
      <p:sp>
        <p:nvSpPr>
          <p:cNvPr id="77" name="PlaceHolder 2"/>
          <p:cNvSpPr>
            <a:spLocks noGrp="1"/>
          </p:cNvSpPr>
          <p:nvPr>
            <p:ph/>
          </p:nvPr>
        </p:nvSpPr>
        <p:spPr>
          <a:xfrm>
            <a:off x="442080" y="942480"/>
            <a:ext cx="3816000" cy="3802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1" lang="it" sz="1200" spc="-1" strike="noStrike" u="sng">
                <a:solidFill>
                  <a:schemeClr val="dk2"/>
                </a:solidFill>
                <a:uFillTx/>
                <a:latin typeface="Lato"/>
                <a:ea typeface="Lato"/>
              </a:rPr>
              <a:t>Modulo di ricezione dei dati con UART tramite GPIO 16/17</a:t>
            </a:r>
            <a:endParaRPr b="0" lang="it-IT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endParaRPr b="0" lang="it-IT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it" sz="1200" spc="-1" strike="noStrike">
                <a:solidFill>
                  <a:schemeClr val="dk2"/>
                </a:solidFill>
                <a:latin typeface="Lato"/>
                <a:ea typeface="Lato"/>
              </a:rPr>
              <a:t>Il segnale attenuato dal partitore resistivo viene ricevuto dall’ ESP32 tramite i pin riservati alla comunicazione UART2.</a:t>
            </a:r>
            <a:endParaRPr b="0" lang="it-IT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endParaRPr b="0" lang="it-IT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it" sz="1200" spc="-1" strike="noStrike">
                <a:solidFill>
                  <a:schemeClr val="dk2"/>
                </a:solidFill>
                <a:latin typeface="Lato"/>
                <a:ea typeface="Lato"/>
              </a:rPr>
              <a:t>Il Pin GPIO 16 (RX2) è dedicato alla ricezione dei dati, tramite il segnale a 3.4V proveniente dal Pin 11 (TX) di Arduino.</a:t>
            </a:r>
            <a:endParaRPr b="0" lang="it-IT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br>
              <a:rPr sz="1200"/>
            </a:br>
            <a:r>
              <a:rPr b="0" lang="it" sz="1200" spc="-1" strike="noStrike">
                <a:solidFill>
                  <a:schemeClr val="dk2"/>
                </a:solidFill>
                <a:latin typeface="Lato"/>
                <a:ea typeface="Lato"/>
              </a:rPr>
              <a:t>Il Pin GPIO 17 (TX2) è dedicato alla comunicazione bidirezionale verso Arduino, che riceve i dati grazie </a:t>
            </a:r>
            <a:endParaRPr b="0" lang="it-IT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it" sz="1200" spc="-1" strike="noStrike">
                <a:solidFill>
                  <a:schemeClr val="dk2"/>
                </a:solidFill>
                <a:latin typeface="Lato"/>
                <a:ea typeface="Lato"/>
              </a:rPr>
              <a:t>al Pin 10 (RX).</a:t>
            </a:r>
            <a:endParaRPr b="0" lang="it-IT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endParaRPr b="0" lang="it-IT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it" sz="1200" spc="-1" strike="noStrike">
                <a:solidFill>
                  <a:schemeClr val="dk2"/>
                </a:solidFill>
                <a:latin typeface="Lato"/>
                <a:ea typeface="Lato"/>
              </a:rPr>
              <a:t>In questo sistema, tuttavia, l'ESP32 opera</a:t>
            </a:r>
            <a:endParaRPr b="0" lang="it-IT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it" sz="1200" spc="-1" strike="noStrike">
                <a:solidFill>
                  <a:schemeClr val="dk2"/>
                </a:solidFill>
                <a:latin typeface="Lato"/>
                <a:ea typeface="Lato"/>
              </a:rPr>
              <a:t>principalmente in ricezione, il flusso di dati è </a:t>
            </a:r>
            <a:endParaRPr b="0" lang="it-IT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it" sz="1200" spc="-1" strike="noStrike">
                <a:solidFill>
                  <a:schemeClr val="dk2"/>
                </a:solidFill>
                <a:latin typeface="Lato"/>
                <a:ea typeface="Lato"/>
              </a:rPr>
              <a:t>unidirezionale da Arduino ad ESP32.</a:t>
            </a:r>
            <a:endParaRPr b="0" lang="it-IT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endParaRPr b="0" lang="it-IT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20120" cy="62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3740"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it" sz="3200" spc="-1" strike="noStrike">
                <a:solidFill>
                  <a:schemeClr val="dk1"/>
                </a:solidFill>
                <a:latin typeface="Consolas"/>
                <a:ea typeface="Consolas"/>
              </a:rPr>
              <a:t>auradetector.ino parte 1</a:t>
            </a:r>
            <a:endParaRPr b="0" lang="it-IT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Google Shape;131;p22"/>
          <p:cNvSpPr/>
          <p:nvPr/>
        </p:nvSpPr>
        <p:spPr>
          <a:xfrm>
            <a:off x="36360" y="1139760"/>
            <a:ext cx="4573080" cy="38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it-IT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0" name="Google Shape;132;p22" descr=""/>
          <p:cNvPicPr/>
          <p:nvPr/>
        </p:nvPicPr>
        <p:blipFill>
          <a:blip r:embed="rId1"/>
          <a:stretch/>
        </p:blipFill>
        <p:spPr>
          <a:xfrm>
            <a:off x="0" y="1170000"/>
            <a:ext cx="4725360" cy="3337560"/>
          </a:xfrm>
          <a:prstGeom prst="rect">
            <a:avLst/>
          </a:prstGeom>
          <a:ln w="0">
            <a:noFill/>
          </a:ln>
        </p:spPr>
      </p:pic>
      <p:pic>
        <p:nvPicPr>
          <p:cNvPr id="81" name="Google Shape;133;p22" descr=""/>
          <p:cNvPicPr/>
          <p:nvPr/>
        </p:nvPicPr>
        <p:blipFill>
          <a:blip r:embed="rId2"/>
          <a:stretch/>
        </p:blipFill>
        <p:spPr>
          <a:xfrm>
            <a:off x="4726080" y="1170000"/>
            <a:ext cx="4417920" cy="3337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20120" cy="62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3740"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it" sz="3200" spc="-1" strike="noStrike">
                <a:solidFill>
                  <a:schemeClr val="dk1"/>
                </a:solidFill>
                <a:latin typeface="Consolas"/>
                <a:ea typeface="Consolas"/>
              </a:rPr>
              <a:t>auradetector.ino parte 2</a:t>
            </a:r>
            <a:endParaRPr b="0" lang="it-IT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3" name="Google Shape;139;p23" descr=""/>
          <p:cNvPicPr/>
          <p:nvPr/>
        </p:nvPicPr>
        <p:blipFill>
          <a:blip r:embed="rId1"/>
          <a:srcRect l="0" t="544" r="0" b="544"/>
          <a:stretch/>
        </p:blipFill>
        <p:spPr>
          <a:xfrm>
            <a:off x="0" y="1170000"/>
            <a:ext cx="4609800" cy="3337560"/>
          </a:xfrm>
          <a:prstGeom prst="rect">
            <a:avLst/>
          </a:prstGeom>
          <a:ln w="0">
            <a:noFill/>
          </a:ln>
        </p:spPr>
      </p:pic>
      <p:pic>
        <p:nvPicPr>
          <p:cNvPr id="84" name="Google Shape;140;p23" descr=""/>
          <p:cNvPicPr/>
          <p:nvPr/>
        </p:nvPicPr>
        <p:blipFill>
          <a:blip r:embed="rId2"/>
          <a:srcRect l="0" t="0" r="4752" b="0"/>
          <a:stretch/>
        </p:blipFill>
        <p:spPr>
          <a:xfrm>
            <a:off x="4610160" y="1170000"/>
            <a:ext cx="4533480" cy="3337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20120" cy="62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3740"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it" sz="3200" spc="-1" strike="noStrike">
                <a:solidFill>
                  <a:schemeClr val="dk1"/>
                </a:solidFill>
                <a:latin typeface="Consolas"/>
                <a:ea typeface="Consolas"/>
              </a:rPr>
              <a:t>main.py per ESP32 parte 1</a:t>
            </a:r>
            <a:endParaRPr b="0" lang="it-IT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6" name="Google Shape;146;p24" descr=""/>
          <p:cNvPicPr/>
          <p:nvPr/>
        </p:nvPicPr>
        <p:blipFill>
          <a:blip r:embed="rId1"/>
          <a:stretch/>
        </p:blipFill>
        <p:spPr>
          <a:xfrm>
            <a:off x="0" y="981000"/>
            <a:ext cx="4609800" cy="4081320"/>
          </a:xfrm>
          <a:prstGeom prst="rect">
            <a:avLst/>
          </a:prstGeom>
          <a:ln w="0">
            <a:noFill/>
          </a:ln>
        </p:spPr>
      </p:pic>
      <p:pic>
        <p:nvPicPr>
          <p:cNvPr id="87" name="Google Shape;147;p24" descr=""/>
          <p:cNvPicPr/>
          <p:nvPr/>
        </p:nvPicPr>
        <p:blipFill>
          <a:blip r:embed="rId2"/>
          <a:stretch/>
        </p:blipFill>
        <p:spPr>
          <a:xfrm>
            <a:off x="4610160" y="981000"/>
            <a:ext cx="4533840" cy="4081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20120" cy="62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3740"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it" sz="3200" spc="-1" strike="noStrike">
                <a:solidFill>
                  <a:schemeClr val="dk1"/>
                </a:solidFill>
                <a:latin typeface="Consolas"/>
                <a:ea typeface="Consolas"/>
              </a:rPr>
              <a:t>main.py per ESP32 parte 2</a:t>
            </a:r>
            <a:endParaRPr b="0" lang="it-IT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9" name="Google Shape;153;p25" descr=""/>
          <p:cNvPicPr/>
          <p:nvPr/>
        </p:nvPicPr>
        <p:blipFill>
          <a:blip r:embed="rId1"/>
          <a:stretch/>
        </p:blipFill>
        <p:spPr>
          <a:xfrm>
            <a:off x="826920" y="981720"/>
            <a:ext cx="3540600" cy="4062960"/>
          </a:xfrm>
          <a:prstGeom prst="rect">
            <a:avLst/>
          </a:prstGeom>
          <a:ln w="0">
            <a:noFill/>
          </a:ln>
        </p:spPr>
      </p:pic>
      <p:pic>
        <p:nvPicPr>
          <p:cNvPr id="90" name="Google Shape;154;p25" descr=""/>
          <p:cNvPicPr/>
          <p:nvPr/>
        </p:nvPicPr>
        <p:blipFill>
          <a:blip r:embed="rId2"/>
          <a:stretch/>
        </p:blipFill>
        <p:spPr>
          <a:xfrm>
            <a:off x="4367880" y="4236480"/>
            <a:ext cx="3607200" cy="8082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20120" cy="62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3740"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it" sz="3200" spc="-1" strike="noStrike">
                <a:solidFill>
                  <a:schemeClr val="dk1"/>
                </a:solidFill>
                <a:latin typeface="Consolas"/>
                <a:ea typeface="Consolas"/>
              </a:rPr>
              <a:t>auradetector.py GUI parte 1</a:t>
            </a:r>
            <a:endParaRPr b="0" lang="it-IT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2" name="Google Shape;160;p26" descr=""/>
          <p:cNvPicPr/>
          <p:nvPr/>
        </p:nvPicPr>
        <p:blipFill>
          <a:blip r:embed="rId1"/>
          <a:srcRect l="0" t="0" r="792" b="0"/>
          <a:stretch/>
        </p:blipFill>
        <p:spPr>
          <a:xfrm>
            <a:off x="0" y="942480"/>
            <a:ext cx="5216040" cy="4113720"/>
          </a:xfrm>
          <a:prstGeom prst="rect">
            <a:avLst/>
          </a:prstGeom>
          <a:ln w="0">
            <a:noFill/>
          </a:ln>
        </p:spPr>
      </p:pic>
      <p:pic>
        <p:nvPicPr>
          <p:cNvPr id="93" name="Google Shape;161;p26" descr=""/>
          <p:cNvPicPr/>
          <p:nvPr/>
        </p:nvPicPr>
        <p:blipFill>
          <a:blip r:embed="rId2"/>
          <a:stretch/>
        </p:blipFill>
        <p:spPr>
          <a:xfrm>
            <a:off x="5216400" y="942480"/>
            <a:ext cx="3927240" cy="41137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20120" cy="62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3740"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it" sz="3200" spc="-1" strike="noStrike">
                <a:solidFill>
                  <a:schemeClr val="dk1"/>
                </a:solidFill>
                <a:latin typeface="Consolas"/>
                <a:ea typeface="Consolas"/>
              </a:rPr>
              <a:t>auradetector.py GUI parte 2</a:t>
            </a:r>
            <a:endParaRPr b="0" lang="it-IT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5" name="Google Shape;167;p27" descr=""/>
          <p:cNvPicPr/>
          <p:nvPr/>
        </p:nvPicPr>
        <p:blipFill>
          <a:blip r:embed="rId1"/>
          <a:srcRect l="0" t="158" r="0" b="171"/>
          <a:stretch/>
        </p:blipFill>
        <p:spPr>
          <a:xfrm>
            <a:off x="0" y="942480"/>
            <a:ext cx="4650840" cy="4113720"/>
          </a:xfrm>
          <a:prstGeom prst="rect">
            <a:avLst/>
          </a:prstGeom>
          <a:ln w="0">
            <a:noFill/>
          </a:ln>
        </p:spPr>
      </p:pic>
      <p:pic>
        <p:nvPicPr>
          <p:cNvPr id="96" name="Google Shape;168;p27" descr=""/>
          <p:cNvPicPr/>
          <p:nvPr/>
        </p:nvPicPr>
        <p:blipFill>
          <a:blip r:embed="rId2"/>
          <a:srcRect l="0" t="0" r="1186" b="0"/>
          <a:stretch/>
        </p:blipFill>
        <p:spPr>
          <a:xfrm>
            <a:off x="4651200" y="942480"/>
            <a:ext cx="4492440" cy="41137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20120" cy="62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3740"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it" sz="3200" spc="-1" strike="noStrike">
                <a:solidFill>
                  <a:schemeClr val="dk1"/>
                </a:solidFill>
                <a:latin typeface="Consolas"/>
                <a:ea typeface="Consolas"/>
              </a:rPr>
              <a:t>auradetector.py GUI parte 3</a:t>
            </a:r>
            <a:endParaRPr b="0" lang="it-IT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8" name="Google Shape;174;p28" descr=""/>
          <p:cNvPicPr/>
          <p:nvPr/>
        </p:nvPicPr>
        <p:blipFill>
          <a:blip r:embed="rId1"/>
          <a:stretch/>
        </p:blipFill>
        <p:spPr>
          <a:xfrm>
            <a:off x="1289880" y="1479240"/>
            <a:ext cx="6563880" cy="2695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20120" cy="62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3740"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it" sz="3200" spc="-1" strike="noStrike">
                <a:solidFill>
                  <a:schemeClr val="dk1"/>
                </a:solidFill>
                <a:latin typeface="Consolas"/>
                <a:ea typeface="Consolas"/>
              </a:rPr>
              <a:t>Avvio e funzionamento del sistema</a:t>
            </a:r>
            <a:endParaRPr b="0" lang="it-IT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/>
          </p:nvPr>
        </p:nvSpPr>
        <p:spPr>
          <a:xfrm>
            <a:off x="442080" y="1921320"/>
            <a:ext cx="8390160" cy="2824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endParaRPr b="0" lang="it-IT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1" lang="it" sz="1200" spc="-1" strike="noStrike" u="sng">
                <a:solidFill>
                  <a:schemeClr val="dk2"/>
                </a:solidFill>
                <a:uFillTx/>
                <a:latin typeface="Lato"/>
                <a:ea typeface="Lato"/>
              </a:rPr>
              <a:t>1)  Calibrazione ambientale</a:t>
            </a:r>
            <a:endParaRPr b="0" lang="it-IT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50000"/>
              </a:lnSpc>
              <a:buNone/>
              <a:tabLst>
                <a:tab algn="l" pos="0"/>
              </a:tabLst>
            </a:pPr>
            <a:endParaRPr b="0" lang="it-IT" sz="1200" spc="-1" strike="noStrike">
              <a:solidFill>
                <a:srgbClr val="000000"/>
              </a:solidFill>
              <a:latin typeface="Arial"/>
            </a:endParaRPr>
          </a:p>
          <a:p>
            <a:pPr marL="90000"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it" sz="1200" spc="-1" strike="noStrike">
                <a:solidFill>
                  <a:schemeClr val="dk2"/>
                </a:solidFill>
                <a:latin typeface="Lato"/>
                <a:ea typeface="Lato"/>
              </a:rPr>
              <a:t>Una volta avviati gli script di Arduino (auradetector.ino)</a:t>
            </a:r>
            <a:endParaRPr b="0" lang="it-IT" sz="1200" spc="-1" strike="noStrike">
              <a:solidFill>
                <a:srgbClr val="000000"/>
              </a:solidFill>
              <a:latin typeface="Arial"/>
            </a:endParaRPr>
          </a:p>
          <a:p>
            <a:pPr marL="90000"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it" sz="1200" spc="-1" strike="noStrike">
                <a:solidFill>
                  <a:schemeClr val="dk2"/>
                </a:solidFill>
                <a:latin typeface="Lato"/>
                <a:ea typeface="Lato"/>
              </a:rPr>
              <a:t>ed ESP32 (main.py), il sistema avvia una procedura di Calibrazione ambientale. </a:t>
            </a:r>
            <a:endParaRPr b="0" lang="it-IT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endParaRPr b="0" lang="it-IT" sz="1200" spc="-1" strike="noStrike">
              <a:solidFill>
                <a:srgbClr val="000000"/>
              </a:solidFill>
              <a:latin typeface="Arial"/>
            </a:endParaRPr>
          </a:p>
          <a:p>
            <a:pPr marL="90000"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it" sz="1200" spc="-1" strike="noStrike">
                <a:solidFill>
                  <a:schemeClr val="dk2"/>
                </a:solidFill>
                <a:latin typeface="Lato"/>
                <a:ea typeface="Lato"/>
              </a:rPr>
              <a:t>Arduino campiona il campo magnetico locale tramite il magnetometro GY-273, effettuando la media aritmetica</a:t>
            </a:r>
            <a:endParaRPr b="0" lang="it-IT" sz="1200" spc="-1" strike="noStrike">
              <a:solidFill>
                <a:srgbClr val="000000"/>
              </a:solidFill>
              <a:latin typeface="Arial"/>
            </a:endParaRPr>
          </a:p>
          <a:p>
            <a:pPr marL="90000"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it" sz="1200" spc="-1" strike="noStrike">
                <a:solidFill>
                  <a:schemeClr val="dk2"/>
                </a:solidFill>
                <a:latin typeface="Lato"/>
                <a:ea typeface="Lato"/>
              </a:rPr>
              <a:t>di 50 letture consecutive.</a:t>
            </a:r>
            <a:endParaRPr b="0" lang="it-IT" sz="1200" spc="-1" strike="noStrike">
              <a:solidFill>
                <a:srgbClr val="000000"/>
              </a:solidFill>
              <a:latin typeface="Arial"/>
            </a:endParaRPr>
          </a:p>
          <a:p>
            <a:pPr marL="90000"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it" sz="1200" spc="-1" strike="noStrike">
                <a:solidFill>
                  <a:schemeClr val="dk2"/>
                </a:solidFill>
                <a:latin typeface="Lato"/>
                <a:ea typeface="Lato"/>
              </a:rPr>
              <a:t>Inoltre, durante questa fase Arduino invia messaggi di stato all’ESP32 tramite UART, per informare l’utente.</a:t>
            </a:r>
            <a:endParaRPr b="0" lang="it-IT" sz="1200" spc="-1" strike="noStrike">
              <a:solidFill>
                <a:srgbClr val="000000"/>
              </a:solidFill>
              <a:latin typeface="Arial"/>
            </a:endParaRPr>
          </a:p>
          <a:p>
            <a:pPr marL="90000" indent="0">
              <a:lnSpc>
                <a:spcPct val="115000"/>
              </a:lnSpc>
              <a:buNone/>
              <a:tabLst>
                <a:tab algn="l" pos="0"/>
              </a:tabLst>
            </a:pPr>
            <a:endParaRPr b="0" lang="it-IT" sz="1200" spc="-1" strike="noStrike">
              <a:solidFill>
                <a:srgbClr val="000000"/>
              </a:solidFill>
              <a:latin typeface="Arial"/>
            </a:endParaRPr>
          </a:p>
          <a:p>
            <a:pPr marL="90000"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it" sz="1200" spc="-1" strike="noStrike">
                <a:solidFill>
                  <a:schemeClr val="dk2"/>
                </a:solidFill>
                <a:latin typeface="Lato"/>
                <a:ea typeface="Lato"/>
              </a:rPr>
              <a:t>Questa procedura è fondamentale al fine della lettura precisa delle perturbazioni magnetiche da parte del magnetometro GY-273.</a:t>
            </a:r>
            <a:endParaRPr b="0" lang="it-IT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Google Shape;181;p29"/>
          <p:cNvSpPr/>
          <p:nvPr/>
        </p:nvSpPr>
        <p:spPr>
          <a:xfrm>
            <a:off x="485280" y="970920"/>
            <a:ext cx="8283240" cy="101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15000"/>
              </a:lnSpc>
              <a:tabLst>
                <a:tab algn="l" pos="0"/>
              </a:tabLst>
            </a:pPr>
            <a:r>
              <a:rPr b="1" lang="it" sz="1200" spc="-1" strike="noStrike" u="sng">
                <a:solidFill>
                  <a:schemeClr val="dk2"/>
                </a:solidFill>
                <a:uFillTx/>
                <a:latin typeface="Lato"/>
                <a:ea typeface="Lato"/>
              </a:rPr>
              <a:t>Precondizioni di avvio:</a:t>
            </a:r>
            <a:endParaRPr b="0" lang="it-IT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50000"/>
              </a:lnSpc>
              <a:tabLst>
                <a:tab algn="l" pos="0"/>
              </a:tabLst>
            </a:pPr>
            <a:endParaRPr b="0" lang="it-IT" sz="1200" spc="-1" strike="noStrike">
              <a:solidFill>
                <a:srgbClr val="000000"/>
              </a:solidFill>
              <a:latin typeface="Arial"/>
            </a:endParaRPr>
          </a:p>
          <a:p>
            <a:pPr marL="457200" indent="-304920">
              <a:lnSpc>
                <a:spcPct val="115000"/>
              </a:lnSpc>
              <a:buClr>
                <a:srgbClr val="5e696c"/>
              </a:buClr>
              <a:buFont typeface="Lato"/>
              <a:buChar char="-"/>
              <a:tabLst>
                <a:tab algn="l" pos="0"/>
              </a:tabLst>
            </a:pPr>
            <a:r>
              <a:rPr b="0" lang="it" sz="1200" spc="-1" strike="noStrike">
                <a:solidFill>
                  <a:schemeClr val="dk2"/>
                </a:solidFill>
                <a:latin typeface="Lato"/>
                <a:ea typeface="Lato"/>
              </a:rPr>
              <a:t>Attivare il Bluetooth sul dispositivo da connettere all’ESP32 tramite BLE.</a:t>
            </a:r>
            <a:endParaRPr b="0" lang="it-IT" sz="1200" spc="-1" strike="noStrike">
              <a:solidFill>
                <a:srgbClr val="000000"/>
              </a:solidFill>
              <a:latin typeface="Arial"/>
            </a:endParaRPr>
          </a:p>
          <a:p>
            <a:pPr marL="457200" indent="-304920">
              <a:lnSpc>
                <a:spcPct val="115000"/>
              </a:lnSpc>
              <a:buClr>
                <a:srgbClr val="5e696c"/>
              </a:buClr>
              <a:buFont typeface="Lato"/>
              <a:buChar char="-"/>
              <a:tabLst>
                <a:tab algn="l" pos="0"/>
              </a:tabLst>
            </a:pPr>
            <a:r>
              <a:rPr b="0" lang="it" sz="1200" spc="-1" strike="noStrike">
                <a:solidFill>
                  <a:schemeClr val="dk2"/>
                </a:solidFill>
                <a:latin typeface="Lato"/>
                <a:ea typeface="Lato"/>
              </a:rPr>
              <a:t>Collegare il connettore snap ai terminali della batteria da 9V. </a:t>
            </a:r>
            <a:endParaRPr b="0" lang="it-IT" sz="1200" spc="-1" strike="noStrike">
              <a:solidFill>
                <a:srgbClr val="000000"/>
              </a:solidFill>
              <a:latin typeface="Arial"/>
            </a:endParaRPr>
          </a:p>
          <a:p>
            <a:pPr marL="457200" indent="-304920">
              <a:lnSpc>
                <a:spcPct val="115000"/>
              </a:lnSpc>
              <a:buClr>
                <a:srgbClr val="5e696c"/>
              </a:buClr>
              <a:buFont typeface="Lato"/>
              <a:buChar char="-"/>
              <a:tabLst>
                <a:tab algn="l" pos="0"/>
              </a:tabLst>
            </a:pPr>
            <a:r>
              <a:rPr b="0" lang="it" sz="1200" spc="-1" strike="noStrike">
                <a:solidFill>
                  <a:schemeClr val="dk2"/>
                </a:solidFill>
                <a:latin typeface="Lato"/>
                <a:ea typeface="Lato"/>
              </a:rPr>
              <a:t>Cablare il dispositivo alle schede Arduino ed ESP32 mediante</a:t>
            </a:r>
            <a:endParaRPr b="0" lang="it-IT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20120" cy="62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3740"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it" sz="3200" spc="-1" strike="noStrike">
                <a:solidFill>
                  <a:schemeClr val="dk1"/>
                </a:solidFill>
                <a:latin typeface="Consolas"/>
                <a:ea typeface="Consolas"/>
              </a:rPr>
              <a:t>Avvio e funzionamento del sistema</a:t>
            </a:r>
            <a:endParaRPr b="0" lang="it-IT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/>
          </p:nvPr>
        </p:nvSpPr>
        <p:spPr>
          <a:xfrm>
            <a:off x="464760" y="2739600"/>
            <a:ext cx="8324640" cy="200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endParaRPr b="0" lang="it-IT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endParaRPr b="0" lang="it-IT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1" lang="it" sz="1200" spc="-1" strike="noStrike" u="sng">
                <a:solidFill>
                  <a:schemeClr val="dk2"/>
                </a:solidFill>
                <a:uFillTx/>
                <a:latin typeface="Lato"/>
                <a:ea typeface="Lato"/>
              </a:rPr>
              <a:t>3) Trasmissione dati verso ESP32</a:t>
            </a:r>
            <a:endParaRPr b="0" lang="it-IT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50000"/>
              </a:lnSpc>
              <a:buNone/>
              <a:tabLst>
                <a:tab algn="l" pos="0"/>
              </a:tabLst>
            </a:pPr>
            <a:endParaRPr b="0" lang="it-IT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it" sz="1200" spc="-1" strike="noStrike">
                <a:solidFill>
                  <a:schemeClr val="dk2"/>
                </a:solidFill>
                <a:latin typeface="Lato"/>
                <a:ea typeface="Lato"/>
              </a:rPr>
              <a:t>I dati fluiscono da Arduino all’ESP32 tramite una connessione seriale a 9600 baud.</a:t>
            </a:r>
            <a:endParaRPr b="0" lang="it-IT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it" sz="1200" spc="-1" strike="noStrike">
                <a:solidFill>
                  <a:schemeClr val="dk2"/>
                </a:solidFill>
                <a:latin typeface="Lato"/>
                <a:ea typeface="Lato"/>
              </a:rPr>
              <a:t>L’ESP32 utilizza un task asincrono (uasyncio) per accumulare i byte in arrivo e ricostruire le stringhe di testo complete,</a:t>
            </a:r>
            <a:endParaRPr b="0" lang="it-IT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it" sz="1200" spc="-1" strike="noStrike">
                <a:solidFill>
                  <a:schemeClr val="dk2"/>
                </a:solidFill>
                <a:latin typeface="Lato"/>
                <a:ea typeface="Lato"/>
              </a:rPr>
              <a:t>evitando la perdita di pacchetti.</a:t>
            </a:r>
            <a:endParaRPr b="0" lang="it-IT" sz="1200" spc="-1" strike="noStrike">
              <a:solidFill>
                <a:srgbClr val="000000"/>
              </a:solidFill>
              <a:latin typeface="Arial"/>
            </a:endParaRPr>
          </a:p>
          <a:p>
            <a:pPr marL="457200"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it" sz="1200" spc="-1" strike="noStrike">
                <a:solidFill>
                  <a:schemeClr val="dk2"/>
                </a:solidFill>
                <a:latin typeface="Lato"/>
                <a:ea typeface="Lato"/>
              </a:rPr>
              <a:t> </a:t>
            </a:r>
            <a:endParaRPr b="0" lang="it-IT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it" sz="1200" spc="-1" strike="noStrike">
                <a:solidFill>
                  <a:schemeClr val="dk2"/>
                </a:solidFill>
                <a:latin typeface="Lato"/>
                <a:ea typeface="Lato"/>
              </a:rPr>
              <a:t>I dati ricomposti vengono trasmessi tramite il servizio Nordic UART. L’ESP32 riceve via cavo i dati e li invia via etere ai</a:t>
            </a:r>
            <a:endParaRPr b="0" lang="it-IT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it" sz="1200" spc="-1" strike="noStrike">
                <a:solidFill>
                  <a:schemeClr val="dk2"/>
                </a:solidFill>
                <a:latin typeface="Lato"/>
                <a:ea typeface="Lato"/>
              </a:rPr>
              <a:t>dispositivi client connessi (PC) mediante protocollo BLE.</a:t>
            </a:r>
            <a:endParaRPr b="0" lang="it-IT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Google Shape;188;p30"/>
          <p:cNvSpPr/>
          <p:nvPr/>
        </p:nvSpPr>
        <p:spPr>
          <a:xfrm>
            <a:off x="464760" y="970920"/>
            <a:ext cx="8283240" cy="151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15000"/>
              </a:lnSpc>
              <a:tabLst>
                <a:tab algn="l" pos="0"/>
              </a:tabLst>
            </a:pPr>
            <a:r>
              <a:rPr b="1" lang="it" sz="1200" spc="-1" strike="noStrike" u="sng">
                <a:solidFill>
                  <a:schemeClr val="dk2"/>
                </a:solidFill>
                <a:uFillTx/>
                <a:latin typeface="Lato"/>
                <a:ea typeface="Lato"/>
              </a:rPr>
              <a:t>2) Rilevazione dei metalli e calcolo della perturbazione</a:t>
            </a:r>
            <a:endParaRPr b="0" lang="it-IT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50000"/>
              </a:lnSpc>
              <a:tabLst>
                <a:tab algn="l" pos="0"/>
              </a:tabLst>
            </a:pPr>
            <a:endParaRPr b="0" lang="it-IT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5000"/>
              </a:lnSpc>
              <a:tabLst>
                <a:tab algn="l" pos="0"/>
              </a:tabLst>
            </a:pPr>
            <a:r>
              <a:rPr b="0" lang="it" sz="1200" spc="-1" strike="noStrike">
                <a:solidFill>
                  <a:schemeClr val="dk2"/>
                </a:solidFill>
                <a:latin typeface="Lato"/>
                <a:ea typeface="Lato"/>
              </a:rPr>
              <a:t>Terminata la calibrazione il dispositivo entra in modalità operativa in cui il sensore induttivo monitora costantemente la presenza di oggetti metallici.</a:t>
            </a:r>
            <a:endParaRPr b="0" lang="it-IT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5000"/>
              </a:lnSpc>
              <a:tabLst>
                <a:tab algn="l" pos="0"/>
              </a:tabLst>
            </a:pPr>
            <a:endParaRPr b="0" lang="it-IT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5000"/>
              </a:lnSpc>
              <a:tabLst>
                <a:tab algn="l" pos="0"/>
              </a:tabLst>
            </a:pPr>
            <a:r>
              <a:rPr b="0" lang="it" sz="1200" spc="-1" strike="noStrike">
                <a:solidFill>
                  <a:schemeClr val="dk2"/>
                </a:solidFill>
                <a:latin typeface="Lato"/>
                <a:ea typeface="Lato"/>
              </a:rPr>
              <a:t>Quando il sensore induttivo rileva un metallo, Arduino interroga il magnetometro per leggere l’intensità del campo magnetico in quell’istante (calcolata come modulo vettoriale ).</a:t>
            </a:r>
            <a:endParaRPr b="0" lang="it-IT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5000"/>
              </a:lnSpc>
              <a:tabLst>
                <a:tab algn="l" pos="0"/>
              </a:tabLst>
            </a:pPr>
            <a:r>
              <a:rPr b="0" lang="it" sz="1200" spc="-1" strike="noStrike">
                <a:solidFill>
                  <a:schemeClr val="dk2"/>
                </a:solidFill>
                <a:latin typeface="Lato"/>
                <a:ea typeface="Lato"/>
              </a:rPr>
              <a:t> </a:t>
            </a:r>
            <a:r>
              <a:rPr b="0" lang="it" sz="1200" spc="-1" strike="noStrike">
                <a:solidFill>
                  <a:schemeClr val="dk2"/>
                </a:solidFill>
                <a:latin typeface="Lato"/>
                <a:ea typeface="Lato"/>
              </a:rPr>
              <a:t>Arduino calcola il valore assoluto della differenza tra il  valore del campo magnetico attuale e quello rilevato con la calibrazione ambientale.</a:t>
            </a:r>
            <a:endParaRPr b="0" lang="it-IT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5000"/>
              </a:lnSpc>
              <a:tabLst>
                <a:tab algn="l" pos="0"/>
              </a:tabLst>
            </a:pPr>
            <a:r>
              <a:rPr b="0" lang="it" sz="1200" spc="-1" strike="noStrike">
                <a:solidFill>
                  <a:schemeClr val="dk2"/>
                </a:solidFill>
                <a:latin typeface="Lato"/>
                <a:ea typeface="Lato"/>
              </a:rPr>
              <a:t>Questo valore rappresenta la perturbazione magnetica causata dall’oggetto.</a:t>
            </a:r>
            <a:endParaRPr b="0" lang="it-IT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ceHolder 1"/>
          <p:cNvSpPr>
            <a:spLocks noGrp="1"/>
          </p:cNvSpPr>
          <p:nvPr>
            <p:ph type="title"/>
          </p:nvPr>
        </p:nvSpPr>
        <p:spPr>
          <a:xfrm>
            <a:off x="311760" y="391320"/>
            <a:ext cx="8520120" cy="62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3740"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it" sz="3200" spc="-1" strike="noStrike">
                <a:solidFill>
                  <a:schemeClr val="dk1"/>
                </a:solidFill>
                <a:latin typeface="Consolas"/>
                <a:ea typeface="Consolas"/>
              </a:rPr>
              <a:t>Avvio e funzionamento del sistema</a:t>
            </a:r>
            <a:endParaRPr b="0" lang="it-IT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Google Shape;194;p31"/>
          <p:cNvSpPr/>
          <p:nvPr/>
        </p:nvSpPr>
        <p:spPr>
          <a:xfrm>
            <a:off x="445320" y="955800"/>
            <a:ext cx="8283240" cy="37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15000"/>
              </a:lnSpc>
              <a:tabLst>
                <a:tab algn="l" pos="0"/>
              </a:tabLst>
            </a:pPr>
            <a:r>
              <a:rPr b="1" lang="it" sz="1200" spc="-1" strike="noStrike" u="sng">
                <a:solidFill>
                  <a:schemeClr val="dk2"/>
                </a:solidFill>
                <a:uFillTx/>
                <a:latin typeface="Lato"/>
                <a:ea typeface="Lato"/>
              </a:rPr>
              <a:t>4) Discriminazione e visualizzazione con GUI Python</a:t>
            </a:r>
            <a:endParaRPr b="0" lang="it-IT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50000"/>
              </a:lnSpc>
              <a:tabLst>
                <a:tab algn="l" pos="0"/>
              </a:tabLst>
            </a:pPr>
            <a:endParaRPr b="0" lang="it-IT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5000"/>
              </a:lnSpc>
              <a:tabLst>
                <a:tab algn="l" pos="0"/>
              </a:tabLst>
            </a:pPr>
            <a:r>
              <a:rPr b="0" lang="it" sz="1200" spc="-1" strike="noStrike">
                <a:solidFill>
                  <a:schemeClr val="dk2"/>
                </a:solidFill>
                <a:latin typeface="Lato"/>
                <a:ea typeface="Lato"/>
              </a:rPr>
              <a:t>L’app Python riceve i dati via Bluetooth e processa il segnale in tempo reale rappresentandolo mediante un’interfaccia grafica.</a:t>
            </a:r>
            <a:endParaRPr b="0" lang="it-IT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5000"/>
              </a:lnSpc>
              <a:tabLst>
                <a:tab algn="l" pos="0"/>
              </a:tabLst>
            </a:pPr>
            <a:r>
              <a:rPr b="0" lang="it" sz="1200" spc="-1" strike="noStrike">
                <a:solidFill>
                  <a:schemeClr val="dk2"/>
                </a:solidFill>
                <a:latin typeface="Lato"/>
                <a:ea typeface="Lato"/>
              </a:rPr>
              <a:t>Il software confronta il valore con una soglia (50 unità).</a:t>
            </a:r>
            <a:endParaRPr b="0" lang="it-IT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5000"/>
              </a:lnSpc>
              <a:tabLst>
                <a:tab algn="l" pos="0"/>
              </a:tabLst>
            </a:pPr>
            <a:endParaRPr b="0" lang="it-IT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5000"/>
              </a:lnSpc>
              <a:tabLst>
                <a:tab algn="l" pos="0"/>
              </a:tabLst>
            </a:pPr>
            <a:r>
              <a:rPr b="0" lang="it" sz="1200" spc="-1" strike="noStrike">
                <a:solidFill>
                  <a:schemeClr val="dk2"/>
                </a:solidFill>
                <a:latin typeface="Lato"/>
                <a:ea typeface="Lato"/>
              </a:rPr>
              <a:t>Se il valore di perturbazione è inferiore, il metallo rilevato dal sensore induttivo viene ritenuto non ferroso, colorando di verde l’interfaccia, altrimenti viene ritenuto ferroso, colorando di rosso l’interfaccia.</a:t>
            </a:r>
            <a:endParaRPr b="0" lang="it-IT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5000"/>
              </a:lnSpc>
              <a:tabLst>
                <a:tab algn="l" pos="0"/>
              </a:tabLst>
            </a:pPr>
            <a:r>
              <a:rPr b="0" lang="it" sz="1200" spc="-1" strike="noStrike">
                <a:solidFill>
                  <a:schemeClr val="dk2"/>
                </a:solidFill>
                <a:latin typeface="Lato"/>
                <a:ea typeface="Lato"/>
              </a:rPr>
              <a:t>Per la visualizzazione dei dati, il software utilizza una modellazione tramite distribuzione normale (Gaussiana).</a:t>
            </a:r>
            <a:endParaRPr b="0" lang="it-IT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5000"/>
              </a:lnSpc>
              <a:tabLst>
                <a:tab algn="l" pos="0"/>
              </a:tabLst>
            </a:pPr>
            <a:endParaRPr b="0" lang="it-IT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5000"/>
              </a:lnSpc>
              <a:tabLst>
                <a:tab algn="l" pos="0"/>
              </a:tabLst>
            </a:pPr>
            <a:r>
              <a:rPr b="0" lang="it" sz="1200" spc="-1" strike="noStrike">
                <a:solidFill>
                  <a:schemeClr val="dk2"/>
                </a:solidFill>
                <a:latin typeface="Lato"/>
                <a:ea typeface="Lato"/>
              </a:rPr>
              <a:t>Viene generata una curva di densità di probabilità centrata sul valore di perturbazione istantaneo, utilizzando una deviazione standard fissa (15 unità).</a:t>
            </a:r>
            <a:endParaRPr b="0" lang="it-IT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5000"/>
              </a:lnSpc>
              <a:tabLst>
                <a:tab algn="l" pos="0"/>
              </a:tabLst>
            </a:pPr>
            <a:endParaRPr b="0" lang="it-IT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5000"/>
              </a:lnSpc>
              <a:tabLst>
                <a:tab algn="l" pos="0"/>
              </a:tabLst>
            </a:pPr>
            <a:r>
              <a:rPr b="1" lang="it" sz="1200" spc="-1" strike="noStrike" u="sng">
                <a:solidFill>
                  <a:schemeClr val="dk2"/>
                </a:solidFill>
                <a:uFillTx/>
                <a:latin typeface="Lato"/>
                <a:ea typeface="Lato"/>
              </a:rPr>
              <a:t>5) Chiusura del software e reboot automatico del sistema</a:t>
            </a:r>
            <a:endParaRPr b="0" lang="it-IT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50000"/>
              </a:lnSpc>
              <a:tabLst>
                <a:tab algn="l" pos="0"/>
              </a:tabLst>
            </a:pPr>
            <a:endParaRPr b="0" lang="it-IT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5000"/>
              </a:lnSpc>
              <a:tabLst>
                <a:tab algn="l" pos="0"/>
              </a:tabLst>
            </a:pPr>
            <a:r>
              <a:rPr b="0" lang="it" sz="1200" spc="-1" strike="noStrike">
                <a:solidFill>
                  <a:schemeClr val="dk2"/>
                </a:solidFill>
                <a:latin typeface="Lato"/>
                <a:ea typeface="Lato"/>
              </a:rPr>
              <a:t>Quando l’utente chiude l’applicazione sul PC, il driver Bluetooth invia un segnale di disconnessione, l’ESP32 rileva la fine</a:t>
            </a:r>
            <a:endParaRPr b="0" lang="it-IT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5000"/>
              </a:lnSpc>
              <a:tabLst>
                <a:tab algn="l" pos="0"/>
              </a:tabLst>
            </a:pPr>
            <a:r>
              <a:rPr b="0" lang="it" sz="1200" spc="-1" strike="noStrike">
                <a:solidFill>
                  <a:schemeClr val="dk2"/>
                </a:solidFill>
                <a:latin typeface="Lato"/>
                <a:ea typeface="Lato"/>
              </a:rPr>
              <a:t>della sessione e chiama un Hardware Reset in modo da riavviare l’hardware, pulire lo stack radio e riportare il dispositivo in modalità Advertising, pronto per collegarsi via Bluetooth ad un nuovo dispositivo senza interventi manuali.</a:t>
            </a:r>
            <a:endParaRPr b="0" lang="it-IT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5000"/>
              </a:lnSpc>
              <a:tabLst>
                <a:tab algn="l" pos="0"/>
              </a:tabLst>
            </a:pPr>
            <a:endParaRPr b="0" lang="it-IT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509400" y="1423800"/>
            <a:ext cx="8124480" cy="179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" sz="4800" spc="-1" strike="noStrike">
                <a:solidFill>
                  <a:schemeClr val="lt1"/>
                </a:solidFill>
                <a:latin typeface="Lato"/>
                <a:ea typeface="Lato"/>
              </a:rPr>
              <a:t>Grazie per l’attenzione!</a:t>
            </a:r>
            <a:endParaRPr b="0" lang="it-IT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Google Shape;200;p32"/>
          <p:cNvSpPr/>
          <p:nvPr/>
        </p:nvSpPr>
        <p:spPr>
          <a:xfrm>
            <a:off x="5779080" y="4347000"/>
            <a:ext cx="328752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 algn="r">
              <a:lnSpc>
                <a:spcPct val="100000"/>
              </a:lnSpc>
              <a:tabLst>
                <a:tab algn="l" pos="0"/>
              </a:tabLst>
            </a:pPr>
            <a:r>
              <a:rPr b="0" lang="it" sz="1800" spc="-1" strike="noStrike">
                <a:solidFill>
                  <a:schemeClr val="lt1"/>
                </a:solidFill>
                <a:latin typeface="Lato"/>
                <a:ea typeface="Lato"/>
              </a:rPr>
              <a:t>Marco Melegatti ~ VR502471</a:t>
            </a:r>
            <a:endParaRPr b="0" lang="it-IT" sz="1800" spc="-1" strike="noStrike">
              <a:solidFill>
                <a:srgbClr val="ffffff"/>
              </a:solidFill>
              <a:latin typeface="Arial"/>
            </a:endParaRPr>
          </a:p>
          <a:p>
            <a:pPr algn="r">
              <a:lnSpc>
                <a:spcPct val="100000"/>
              </a:lnSpc>
              <a:tabLst>
                <a:tab algn="l" pos="0"/>
              </a:tabLst>
            </a:pPr>
            <a:r>
              <a:rPr b="0" lang="it" sz="1800" spc="-1" strike="noStrike">
                <a:solidFill>
                  <a:schemeClr val="lt1"/>
                </a:solidFill>
                <a:latin typeface="Lato"/>
                <a:ea typeface="Lato"/>
              </a:rPr>
              <a:t>Luca Belloni ~ VR503921</a:t>
            </a:r>
            <a:endParaRPr b="0" lang="it-IT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Coral">
  <a:themeElements>
    <a:clrScheme name="Coral">
      <a:dk1>
        <a:srgbClr val="f55e61"/>
      </a:dk1>
      <a:lt1>
        <a:srgbClr val="ffffff"/>
      </a:lt1>
      <a:dk2>
        <a:srgbClr val="5e696c"/>
      </a:dk2>
      <a:lt2>
        <a:srgbClr val="bfc7ca"/>
      </a:lt2>
      <a:accent1>
        <a:srgbClr val="1e2d31"/>
      </a:accent1>
      <a:accent2>
        <a:srgbClr val="273c42"/>
      </a:accent2>
      <a:accent3>
        <a:srgbClr val="83d061"/>
      </a:accent3>
      <a:accent4>
        <a:srgbClr val="f6cd4c"/>
      </a:accent4>
      <a:accent5>
        <a:srgbClr val="af4345"/>
      </a:accent5>
      <a:accent6>
        <a:srgbClr val="f58f8f"/>
      </a:accent6>
      <a:hlink>
        <a:srgbClr val="af4345"/>
      </a:hlink>
      <a:folHlink>
        <a:srgbClr val="af4345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oral">
  <a:themeElements>
    <a:clrScheme name="Coral">
      <a:dk1>
        <a:srgbClr val="f55e61"/>
      </a:dk1>
      <a:lt1>
        <a:srgbClr val="ffffff"/>
      </a:lt1>
      <a:dk2>
        <a:srgbClr val="5e696c"/>
      </a:dk2>
      <a:lt2>
        <a:srgbClr val="bfc7ca"/>
      </a:lt2>
      <a:accent1>
        <a:srgbClr val="1e2d31"/>
      </a:accent1>
      <a:accent2>
        <a:srgbClr val="273c42"/>
      </a:accent2>
      <a:accent3>
        <a:srgbClr val="83d061"/>
      </a:accent3>
      <a:accent4>
        <a:srgbClr val="f6cd4c"/>
      </a:accent4>
      <a:accent5>
        <a:srgbClr val="af4345"/>
      </a:accent5>
      <a:accent6>
        <a:srgbClr val="f58f8f"/>
      </a:accent6>
      <a:hlink>
        <a:srgbClr val="af4345"/>
      </a:hlink>
      <a:folHlink>
        <a:srgbClr val="af4345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Coral">
  <a:themeElements>
    <a:clrScheme name="Coral">
      <a:dk1>
        <a:srgbClr val="f55e61"/>
      </a:dk1>
      <a:lt1>
        <a:srgbClr val="ffffff"/>
      </a:lt1>
      <a:dk2>
        <a:srgbClr val="5e696c"/>
      </a:dk2>
      <a:lt2>
        <a:srgbClr val="bfc7ca"/>
      </a:lt2>
      <a:accent1>
        <a:srgbClr val="1e2d31"/>
      </a:accent1>
      <a:accent2>
        <a:srgbClr val="273c42"/>
      </a:accent2>
      <a:accent3>
        <a:srgbClr val="83d061"/>
      </a:accent3>
      <a:accent4>
        <a:srgbClr val="f6cd4c"/>
      </a:accent4>
      <a:accent5>
        <a:srgbClr val="af4345"/>
      </a:accent5>
      <a:accent6>
        <a:srgbClr val="f58f8f"/>
      </a:accent6>
      <a:hlink>
        <a:srgbClr val="af4345"/>
      </a:hlink>
      <a:folHlink>
        <a:srgbClr val="af4345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Coral">
  <a:themeElements>
    <a:clrScheme name="Coral">
      <a:dk1>
        <a:srgbClr val="f55e61"/>
      </a:dk1>
      <a:lt1>
        <a:srgbClr val="ffffff"/>
      </a:lt1>
      <a:dk2>
        <a:srgbClr val="5e696c"/>
      </a:dk2>
      <a:lt2>
        <a:srgbClr val="bfc7ca"/>
      </a:lt2>
      <a:accent1>
        <a:srgbClr val="1e2d31"/>
      </a:accent1>
      <a:accent2>
        <a:srgbClr val="273c42"/>
      </a:accent2>
      <a:accent3>
        <a:srgbClr val="83d061"/>
      </a:accent3>
      <a:accent4>
        <a:srgbClr val="f6cd4c"/>
      </a:accent4>
      <a:accent5>
        <a:srgbClr val="af4345"/>
      </a:accent5>
      <a:accent6>
        <a:srgbClr val="f58f8f"/>
      </a:accent6>
      <a:hlink>
        <a:srgbClr val="af4345"/>
      </a:hlink>
      <a:folHlink>
        <a:srgbClr val="af4345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Coral">
  <a:themeElements>
    <a:clrScheme name="Coral">
      <a:dk1>
        <a:srgbClr val="f55e61"/>
      </a:dk1>
      <a:lt1>
        <a:srgbClr val="ffffff"/>
      </a:lt1>
      <a:dk2>
        <a:srgbClr val="5e696c"/>
      </a:dk2>
      <a:lt2>
        <a:srgbClr val="bfc7ca"/>
      </a:lt2>
      <a:accent1>
        <a:srgbClr val="1e2d31"/>
      </a:accent1>
      <a:accent2>
        <a:srgbClr val="273c42"/>
      </a:accent2>
      <a:accent3>
        <a:srgbClr val="83d061"/>
      </a:accent3>
      <a:accent4>
        <a:srgbClr val="f6cd4c"/>
      </a:accent4>
      <a:accent5>
        <a:srgbClr val="af4345"/>
      </a:accent5>
      <a:accent6>
        <a:srgbClr val="f58f8f"/>
      </a:accent6>
      <a:hlink>
        <a:srgbClr val="af4345"/>
      </a:hlink>
      <a:folHlink>
        <a:srgbClr val="af4345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Coral">
  <a:themeElements>
    <a:clrScheme name="Coral">
      <a:dk1>
        <a:srgbClr val="f55e61"/>
      </a:dk1>
      <a:lt1>
        <a:srgbClr val="ffffff"/>
      </a:lt1>
      <a:dk2>
        <a:srgbClr val="5e696c"/>
      </a:dk2>
      <a:lt2>
        <a:srgbClr val="bfc7ca"/>
      </a:lt2>
      <a:accent1>
        <a:srgbClr val="1e2d31"/>
      </a:accent1>
      <a:accent2>
        <a:srgbClr val="273c42"/>
      </a:accent2>
      <a:accent3>
        <a:srgbClr val="83d061"/>
      </a:accent3>
      <a:accent4>
        <a:srgbClr val="f6cd4c"/>
      </a:accent4>
      <a:accent5>
        <a:srgbClr val="af4345"/>
      </a:accent5>
      <a:accent6>
        <a:srgbClr val="f58f8f"/>
      </a:accent6>
      <a:hlink>
        <a:srgbClr val="af4345"/>
      </a:hlink>
      <a:folHlink>
        <a:srgbClr val="af4345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Coral">
  <a:themeElements>
    <a:clrScheme name="Coral">
      <a:dk1>
        <a:srgbClr val="f55e61"/>
      </a:dk1>
      <a:lt1>
        <a:srgbClr val="ffffff"/>
      </a:lt1>
      <a:dk2>
        <a:srgbClr val="5e696c"/>
      </a:dk2>
      <a:lt2>
        <a:srgbClr val="bfc7ca"/>
      </a:lt2>
      <a:accent1>
        <a:srgbClr val="1e2d31"/>
      </a:accent1>
      <a:accent2>
        <a:srgbClr val="273c42"/>
      </a:accent2>
      <a:accent3>
        <a:srgbClr val="83d061"/>
      </a:accent3>
      <a:accent4>
        <a:srgbClr val="f6cd4c"/>
      </a:accent4>
      <a:accent5>
        <a:srgbClr val="af4345"/>
      </a:accent5>
      <a:accent6>
        <a:srgbClr val="f58f8f"/>
      </a:accent6>
      <a:hlink>
        <a:srgbClr val="af4345"/>
      </a:hlink>
      <a:folHlink>
        <a:srgbClr val="af4345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Coral">
  <a:themeElements>
    <a:clrScheme name="Coral">
      <a:dk1>
        <a:srgbClr val="f55e61"/>
      </a:dk1>
      <a:lt1>
        <a:srgbClr val="ffffff"/>
      </a:lt1>
      <a:dk2>
        <a:srgbClr val="5e696c"/>
      </a:dk2>
      <a:lt2>
        <a:srgbClr val="bfc7ca"/>
      </a:lt2>
      <a:accent1>
        <a:srgbClr val="1e2d31"/>
      </a:accent1>
      <a:accent2>
        <a:srgbClr val="273c42"/>
      </a:accent2>
      <a:accent3>
        <a:srgbClr val="83d061"/>
      </a:accent3>
      <a:accent4>
        <a:srgbClr val="f6cd4c"/>
      </a:accent4>
      <a:accent5>
        <a:srgbClr val="af4345"/>
      </a:accent5>
      <a:accent6>
        <a:srgbClr val="f58f8f"/>
      </a:accent6>
      <a:hlink>
        <a:srgbClr val="af4345"/>
      </a:hlink>
      <a:folHlink>
        <a:srgbClr val="af4345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Coral">
  <a:themeElements>
    <a:clrScheme name="Coral">
      <a:dk1>
        <a:srgbClr val="f55e61"/>
      </a:dk1>
      <a:lt1>
        <a:srgbClr val="ffffff"/>
      </a:lt1>
      <a:dk2>
        <a:srgbClr val="5e696c"/>
      </a:dk2>
      <a:lt2>
        <a:srgbClr val="bfc7ca"/>
      </a:lt2>
      <a:accent1>
        <a:srgbClr val="1e2d31"/>
      </a:accent1>
      <a:accent2>
        <a:srgbClr val="273c42"/>
      </a:accent2>
      <a:accent3>
        <a:srgbClr val="83d061"/>
      </a:accent3>
      <a:accent4>
        <a:srgbClr val="f6cd4c"/>
      </a:accent4>
      <a:accent5>
        <a:srgbClr val="af4345"/>
      </a:accent5>
      <a:accent6>
        <a:srgbClr val="f58f8f"/>
      </a:accent6>
      <a:hlink>
        <a:srgbClr val="af4345"/>
      </a:hlink>
      <a:folHlink>
        <a:srgbClr val="af4345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Coral">
  <a:themeElements>
    <a:clrScheme name="Coral">
      <a:dk1>
        <a:srgbClr val="f55e61"/>
      </a:dk1>
      <a:lt1>
        <a:srgbClr val="ffffff"/>
      </a:lt1>
      <a:dk2>
        <a:srgbClr val="5e696c"/>
      </a:dk2>
      <a:lt2>
        <a:srgbClr val="bfc7ca"/>
      </a:lt2>
      <a:accent1>
        <a:srgbClr val="1e2d31"/>
      </a:accent1>
      <a:accent2>
        <a:srgbClr val="273c42"/>
      </a:accent2>
      <a:accent3>
        <a:srgbClr val="83d061"/>
      </a:accent3>
      <a:accent4>
        <a:srgbClr val="f6cd4c"/>
      </a:accent4>
      <a:accent5>
        <a:srgbClr val="af4345"/>
      </a:accent5>
      <a:accent6>
        <a:srgbClr val="f58f8f"/>
      </a:accent6>
      <a:hlink>
        <a:srgbClr val="af4345"/>
      </a:hlink>
      <a:folHlink>
        <a:srgbClr val="af4345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Coral">
  <a:themeElements>
    <a:clrScheme name="Coral">
      <a:dk1>
        <a:srgbClr val="f55e61"/>
      </a:dk1>
      <a:lt1>
        <a:srgbClr val="ffffff"/>
      </a:lt1>
      <a:dk2>
        <a:srgbClr val="5e696c"/>
      </a:dk2>
      <a:lt2>
        <a:srgbClr val="bfc7ca"/>
      </a:lt2>
      <a:accent1>
        <a:srgbClr val="1e2d31"/>
      </a:accent1>
      <a:accent2>
        <a:srgbClr val="273c42"/>
      </a:accent2>
      <a:accent3>
        <a:srgbClr val="83d061"/>
      </a:accent3>
      <a:accent4>
        <a:srgbClr val="f6cd4c"/>
      </a:accent4>
      <a:accent5>
        <a:srgbClr val="af4345"/>
      </a:accent5>
      <a:accent6>
        <a:srgbClr val="f58f8f"/>
      </a:accent6>
      <a:hlink>
        <a:srgbClr val="af4345"/>
      </a:hlink>
      <a:folHlink>
        <a:srgbClr val="af4345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it-IT</dc:language>
  <cp:lastModifiedBy/>
  <dcterms:modified xsi:type="dcterms:W3CDTF">2026-01-15T21:54:29Z</dcterms:modified>
  <cp:revision>2</cp:revision>
  <dc:subject/>
  <dc:title/>
</cp:coreProperties>
</file>